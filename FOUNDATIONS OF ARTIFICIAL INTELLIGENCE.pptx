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0" r:id="rId6"/>
    <p:sldId id="261" r:id="rId7"/>
    <p:sldId id="266" r:id="rId8"/>
    <p:sldId id="267" r:id="rId9"/>
    <p:sldId id="268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9B1"/>
    <a:srgbClr val="1CADE4"/>
    <a:srgbClr val="0099CC"/>
    <a:srgbClr val="00FFFF"/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6" Type="http://schemas.openxmlformats.org/officeDocument/2006/relationships/image" Target="../media/image38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6" Type="http://schemas.openxmlformats.org/officeDocument/2006/relationships/image" Target="../media/image38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207E0-57A1-4A0C-8E2F-25B2D9F9735B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80DD381-9BE2-4FEC-B538-446613E63E49}">
      <dgm:prSet phldrT="[Text]"/>
      <dgm:spPr/>
      <dgm:t>
        <a:bodyPr/>
        <a:lstStyle/>
        <a:p>
          <a:r>
            <a:rPr lang="en-US" dirty="0">
              <a:latin typeface="+mj-lt"/>
            </a:rPr>
            <a:t>CSP generates valid schedule </a:t>
          </a:r>
          <a:endParaRPr lang="en-IN" dirty="0"/>
        </a:p>
      </dgm:t>
    </dgm:pt>
    <dgm:pt modelId="{E760C573-BB27-4962-91BF-72C3BBD19A12}" type="parTrans" cxnId="{C3235FA3-494B-4756-AE4C-04142BB69BE6}">
      <dgm:prSet/>
      <dgm:spPr/>
      <dgm:t>
        <a:bodyPr/>
        <a:lstStyle/>
        <a:p>
          <a:endParaRPr lang="en-IN"/>
        </a:p>
      </dgm:t>
    </dgm:pt>
    <dgm:pt modelId="{607BE165-467C-4ECA-A11D-07475A72ACDC}" type="sibTrans" cxnId="{C3235FA3-494B-4756-AE4C-04142BB69BE6}">
      <dgm:prSet/>
      <dgm:spPr/>
      <dgm:t>
        <a:bodyPr/>
        <a:lstStyle/>
        <a:p>
          <a:endParaRPr lang="en-IN"/>
        </a:p>
      </dgm:t>
    </dgm:pt>
    <dgm:pt modelId="{365F1EDB-B485-4E5F-AE98-1E0E2F0CE8ED}">
      <dgm:prSet/>
      <dgm:spPr/>
      <dgm:t>
        <a:bodyPr/>
        <a:lstStyle/>
        <a:p>
          <a:r>
            <a:rPr lang="en-US">
              <a:latin typeface="+mj-lt"/>
            </a:rPr>
            <a:t>User triggers “Smart Allocator” </a:t>
          </a:r>
          <a:endParaRPr lang="en-IN"/>
        </a:p>
      </dgm:t>
    </dgm:pt>
    <dgm:pt modelId="{8F6BB266-8271-44A7-9204-A3533138D7C7}" type="parTrans" cxnId="{7D82E786-EEB6-49AE-8AD4-12D66F7CF78A}">
      <dgm:prSet/>
      <dgm:spPr/>
      <dgm:t>
        <a:bodyPr/>
        <a:lstStyle/>
        <a:p>
          <a:endParaRPr lang="en-IN"/>
        </a:p>
      </dgm:t>
    </dgm:pt>
    <dgm:pt modelId="{42E32AB0-A8EC-4BFA-B524-8EF307B18DF4}" type="sibTrans" cxnId="{7D82E786-EEB6-49AE-8AD4-12D66F7CF78A}">
      <dgm:prSet/>
      <dgm:spPr/>
      <dgm:t>
        <a:bodyPr/>
        <a:lstStyle/>
        <a:p>
          <a:endParaRPr lang="en-IN"/>
        </a:p>
      </dgm:t>
    </dgm:pt>
    <dgm:pt modelId="{7B807BCC-5922-461A-BA80-ED4FB34AA52C}">
      <dgm:prSet/>
      <dgm:spPr/>
      <dgm:t>
        <a:bodyPr/>
        <a:lstStyle/>
        <a:p>
          <a:r>
            <a:rPr lang="en-US">
              <a:latin typeface="+mj-lt"/>
            </a:rPr>
            <a:t>Simulated Annealing optimizes soft constraints </a:t>
          </a:r>
          <a:endParaRPr lang="en-IN"/>
        </a:p>
      </dgm:t>
    </dgm:pt>
    <dgm:pt modelId="{C2453B30-92A9-4685-BA9A-E00CB40E6927}" type="parTrans" cxnId="{69939A04-7850-4995-AAD9-77FEBB51A12A}">
      <dgm:prSet/>
      <dgm:spPr/>
      <dgm:t>
        <a:bodyPr/>
        <a:lstStyle/>
        <a:p>
          <a:endParaRPr lang="en-IN"/>
        </a:p>
      </dgm:t>
    </dgm:pt>
    <dgm:pt modelId="{7D3209BC-A49C-4972-A77A-DE21DEF0CD7E}" type="sibTrans" cxnId="{69939A04-7850-4995-AAD9-77FEBB51A12A}">
      <dgm:prSet/>
      <dgm:spPr/>
      <dgm:t>
        <a:bodyPr/>
        <a:lstStyle/>
        <a:p>
          <a:endParaRPr lang="en-IN"/>
        </a:p>
      </dgm:t>
    </dgm:pt>
    <dgm:pt modelId="{2DCF084D-EB49-420D-B229-5A5E6F5DD7EC}">
      <dgm:prSet/>
      <dgm:spPr/>
      <dgm:t>
        <a:bodyPr/>
        <a:lstStyle/>
        <a:p>
          <a:r>
            <a:rPr lang="en-US">
              <a:latin typeface="+mj-lt"/>
            </a:rPr>
            <a:t>Results displayed with live statistics and conflict check</a:t>
          </a:r>
          <a:endParaRPr lang="en-IN"/>
        </a:p>
      </dgm:t>
    </dgm:pt>
    <dgm:pt modelId="{39CD84BE-5F8F-4821-A509-4B0BAC54DD28}" type="parTrans" cxnId="{D8774DB0-9DE3-4E88-83D0-EA808D4A1B4F}">
      <dgm:prSet/>
      <dgm:spPr/>
      <dgm:t>
        <a:bodyPr/>
        <a:lstStyle/>
        <a:p>
          <a:endParaRPr lang="en-IN"/>
        </a:p>
      </dgm:t>
    </dgm:pt>
    <dgm:pt modelId="{E1C9FFF6-6511-465E-BB22-76A5721FC833}" type="sibTrans" cxnId="{D8774DB0-9DE3-4E88-83D0-EA808D4A1B4F}">
      <dgm:prSet/>
      <dgm:spPr/>
      <dgm:t>
        <a:bodyPr/>
        <a:lstStyle/>
        <a:p>
          <a:endParaRPr lang="en-IN"/>
        </a:p>
      </dgm:t>
    </dgm:pt>
    <dgm:pt modelId="{196332BA-A49B-4950-93E0-A202FA154315}" type="pres">
      <dgm:prSet presAssocID="{745207E0-57A1-4A0C-8E2F-25B2D9F9735B}" presName="Name0" presStyleCnt="0">
        <dgm:presLayoutVars>
          <dgm:dir/>
          <dgm:resizeHandles val="exact"/>
        </dgm:presLayoutVars>
      </dgm:prSet>
      <dgm:spPr/>
    </dgm:pt>
    <dgm:pt modelId="{8F48BFD8-9914-491A-85CE-925E4510F45B}" type="pres">
      <dgm:prSet presAssocID="{365F1EDB-B485-4E5F-AE98-1E0E2F0CE8ED}" presName="composite" presStyleCnt="0"/>
      <dgm:spPr/>
    </dgm:pt>
    <dgm:pt modelId="{58C11761-8D47-47D9-B94D-6459ED93DF4F}" type="pres">
      <dgm:prSet presAssocID="{365F1EDB-B485-4E5F-AE98-1E0E2F0CE8ED}" presName="bgChev" presStyleLbl="node1" presStyleIdx="0" presStyleCnt="4"/>
      <dgm:spPr/>
    </dgm:pt>
    <dgm:pt modelId="{81DBB2D3-50BC-4664-85CD-341FC01D56A5}" type="pres">
      <dgm:prSet presAssocID="{365F1EDB-B485-4E5F-AE98-1E0E2F0CE8ED}" presName="txNode" presStyleLbl="fgAcc1" presStyleIdx="0" presStyleCnt="4">
        <dgm:presLayoutVars>
          <dgm:bulletEnabled val="1"/>
        </dgm:presLayoutVars>
      </dgm:prSet>
      <dgm:spPr/>
    </dgm:pt>
    <dgm:pt modelId="{86384F53-5753-42BF-B640-789A12819AA4}" type="pres">
      <dgm:prSet presAssocID="{42E32AB0-A8EC-4BFA-B524-8EF307B18DF4}" presName="compositeSpace" presStyleCnt="0"/>
      <dgm:spPr/>
    </dgm:pt>
    <dgm:pt modelId="{1052D6CB-51D3-40D6-BDD8-D8788B819ACF}" type="pres">
      <dgm:prSet presAssocID="{480DD381-9BE2-4FEC-B538-446613E63E49}" presName="composite" presStyleCnt="0"/>
      <dgm:spPr/>
    </dgm:pt>
    <dgm:pt modelId="{5DBBECC2-B7E2-444F-A887-1AF0C21E470E}" type="pres">
      <dgm:prSet presAssocID="{480DD381-9BE2-4FEC-B538-446613E63E49}" presName="bgChev" presStyleLbl="node1" presStyleIdx="1" presStyleCnt="4"/>
      <dgm:spPr/>
    </dgm:pt>
    <dgm:pt modelId="{5D9CE63A-293E-4CAC-A950-FA5DE7B0FFFD}" type="pres">
      <dgm:prSet presAssocID="{480DD381-9BE2-4FEC-B538-446613E63E49}" presName="txNode" presStyleLbl="fgAcc1" presStyleIdx="1" presStyleCnt="4">
        <dgm:presLayoutVars>
          <dgm:bulletEnabled val="1"/>
        </dgm:presLayoutVars>
      </dgm:prSet>
      <dgm:spPr/>
    </dgm:pt>
    <dgm:pt modelId="{5752D2D0-D6B4-4C53-9672-A0B54E2CA27D}" type="pres">
      <dgm:prSet presAssocID="{607BE165-467C-4ECA-A11D-07475A72ACDC}" presName="compositeSpace" presStyleCnt="0"/>
      <dgm:spPr/>
    </dgm:pt>
    <dgm:pt modelId="{8CB60FC0-8926-4056-B1CE-DCE30921060E}" type="pres">
      <dgm:prSet presAssocID="{7B807BCC-5922-461A-BA80-ED4FB34AA52C}" presName="composite" presStyleCnt="0"/>
      <dgm:spPr/>
    </dgm:pt>
    <dgm:pt modelId="{3DFCC206-904C-4780-B79E-72D54B7975AC}" type="pres">
      <dgm:prSet presAssocID="{7B807BCC-5922-461A-BA80-ED4FB34AA52C}" presName="bgChev" presStyleLbl="node1" presStyleIdx="2" presStyleCnt="4"/>
      <dgm:spPr/>
    </dgm:pt>
    <dgm:pt modelId="{148B8BA2-7ABF-49BD-9EAC-223F44A4E660}" type="pres">
      <dgm:prSet presAssocID="{7B807BCC-5922-461A-BA80-ED4FB34AA52C}" presName="txNode" presStyleLbl="fgAcc1" presStyleIdx="2" presStyleCnt="4">
        <dgm:presLayoutVars>
          <dgm:bulletEnabled val="1"/>
        </dgm:presLayoutVars>
      </dgm:prSet>
      <dgm:spPr/>
    </dgm:pt>
    <dgm:pt modelId="{3D384448-611E-4133-906D-D0E2895A8233}" type="pres">
      <dgm:prSet presAssocID="{7D3209BC-A49C-4972-A77A-DE21DEF0CD7E}" presName="compositeSpace" presStyleCnt="0"/>
      <dgm:spPr/>
    </dgm:pt>
    <dgm:pt modelId="{A8925880-E84F-4285-906B-CE32BBD2AFB9}" type="pres">
      <dgm:prSet presAssocID="{2DCF084D-EB49-420D-B229-5A5E6F5DD7EC}" presName="composite" presStyleCnt="0"/>
      <dgm:spPr/>
    </dgm:pt>
    <dgm:pt modelId="{DAD313B6-83B1-4022-AA98-4A974F19E0FE}" type="pres">
      <dgm:prSet presAssocID="{2DCF084D-EB49-420D-B229-5A5E6F5DD7EC}" presName="bgChev" presStyleLbl="node1" presStyleIdx="3" presStyleCnt="4"/>
      <dgm:spPr/>
    </dgm:pt>
    <dgm:pt modelId="{FAF1016E-0529-428E-8138-962FF6474F8C}" type="pres">
      <dgm:prSet presAssocID="{2DCF084D-EB49-420D-B229-5A5E6F5DD7EC}" presName="txNode" presStyleLbl="fgAcc1" presStyleIdx="3" presStyleCnt="4">
        <dgm:presLayoutVars>
          <dgm:bulletEnabled val="1"/>
        </dgm:presLayoutVars>
      </dgm:prSet>
      <dgm:spPr/>
    </dgm:pt>
  </dgm:ptLst>
  <dgm:cxnLst>
    <dgm:cxn modelId="{69939A04-7850-4995-AAD9-77FEBB51A12A}" srcId="{745207E0-57A1-4A0C-8E2F-25B2D9F9735B}" destId="{7B807BCC-5922-461A-BA80-ED4FB34AA52C}" srcOrd="2" destOrd="0" parTransId="{C2453B30-92A9-4685-BA9A-E00CB40E6927}" sibTransId="{7D3209BC-A49C-4972-A77A-DE21DEF0CD7E}"/>
    <dgm:cxn modelId="{BE4F1962-B18A-4753-9F34-7229D158A1E9}" type="presOf" srcId="{2DCF084D-EB49-420D-B229-5A5E6F5DD7EC}" destId="{FAF1016E-0529-428E-8138-962FF6474F8C}" srcOrd="0" destOrd="0" presId="urn:microsoft.com/office/officeart/2005/8/layout/chevronAccent+Icon"/>
    <dgm:cxn modelId="{ED91B96A-6FEB-46FC-8FB9-73D344A54ABE}" type="presOf" srcId="{480DD381-9BE2-4FEC-B538-446613E63E49}" destId="{5D9CE63A-293E-4CAC-A950-FA5DE7B0FFFD}" srcOrd="0" destOrd="0" presId="urn:microsoft.com/office/officeart/2005/8/layout/chevronAccent+Icon"/>
    <dgm:cxn modelId="{251D5173-A786-4E5C-BD6F-5FB4AA3A39A4}" type="presOf" srcId="{745207E0-57A1-4A0C-8E2F-25B2D9F9735B}" destId="{196332BA-A49B-4950-93E0-A202FA154315}" srcOrd="0" destOrd="0" presId="urn:microsoft.com/office/officeart/2005/8/layout/chevronAccent+Icon"/>
    <dgm:cxn modelId="{7D82E786-EEB6-49AE-8AD4-12D66F7CF78A}" srcId="{745207E0-57A1-4A0C-8E2F-25B2D9F9735B}" destId="{365F1EDB-B485-4E5F-AE98-1E0E2F0CE8ED}" srcOrd="0" destOrd="0" parTransId="{8F6BB266-8271-44A7-9204-A3533138D7C7}" sibTransId="{42E32AB0-A8EC-4BFA-B524-8EF307B18DF4}"/>
    <dgm:cxn modelId="{C3235FA3-494B-4756-AE4C-04142BB69BE6}" srcId="{745207E0-57A1-4A0C-8E2F-25B2D9F9735B}" destId="{480DD381-9BE2-4FEC-B538-446613E63E49}" srcOrd="1" destOrd="0" parTransId="{E760C573-BB27-4962-91BF-72C3BBD19A12}" sibTransId="{607BE165-467C-4ECA-A11D-07475A72ACDC}"/>
    <dgm:cxn modelId="{D8774DB0-9DE3-4E88-83D0-EA808D4A1B4F}" srcId="{745207E0-57A1-4A0C-8E2F-25B2D9F9735B}" destId="{2DCF084D-EB49-420D-B229-5A5E6F5DD7EC}" srcOrd="3" destOrd="0" parTransId="{39CD84BE-5F8F-4821-A509-4B0BAC54DD28}" sibTransId="{E1C9FFF6-6511-465E-BB22-76A5721FC833}"/>
    <dgm:cxn modelId="{FFE57DC4-561B-4AAD-ADF8-E01F5C65B642}" type="presOf" srcId="{365F1EDB-B485-4E5F-AE98-1E0E2F0CE8ED}" destId="{81DBB2D3-50BC-4664-85CD-341FC01D56A5}" srcOrd="0" destOrd="0" presId="urn:microsoft.com/office/officeart/2005/8/layout/chevronAccent+Icon"/>
    <dgm:cxn modelId="{EFC5E9ED-30DC-4BFA-B50E-A3C01712BDB5}" type="presOf" srcId="{7B807BCC-5922-461A-BA80-ED4FB34AA52C}" destId="{148B8BA2-7ABF-49BD-9EAC-223F44A4E660}" srcOrd="0" destOrd="0" presId="urn:microsoft.com/office/officeart/2005/8/layout/chevronAccent+Icon"/>
    <dgm:cxn modelId="{CCDFE1EE-375D-4138-A272-B0D91B2BC768}" type="presParOf" srcId="{196332BA-A49B-4950-93E0-A202FA154315}" destId="{8F48BFD8-9914-491A-85CE-925E4510F45B}" srcOrd="0" destOrd="0" presId="urn:microsoft.com/office/officeart/2005/8/layout/chevronAccent+Icon"/>
    <dgm:cxn modelId="{F3AA1A77-22B9-4984-A511-3783DB0338D7}" type="presParOf" srcId="{8F48BFD8-9914-491A-85CE-925E4510F45B}" destId="{58C11761-8D47-47D9-B94D-6459ED93DF4F}" srcOrd="0" destOrd="0" presId="urn:microsoft.com/office/officeart/2005/8/layout/chevronAccent+Icon"/>
    <dgm:cxn modelId="{BC4A1C03-BA6A-4081-88FA-1121838C2464}" type="presParOf" srcId="{8F48BFD8-9914-491A-85CE-925E4510F45B}" destId="{81DBB2D3-50BC-4664-85CD-341FC01D56A5}" srcOrd="1" destOrd="0" presId="urn:microsoft.com/office/officeart/2005/8/layout/chevronAccent+Icon"/>
    <dgm:cxn modelId="{F020799D-A3F3-461A-87DD-C7D87ED21DAE}" type="presParOf" srcId="{196332BA-A49B-4950-93E0-A202FA154315}" destId="{86384F53-5753-42BF-B640-789A12819AA4}" srcOrd="1" destOrd="0" presId="urn:microsoft.com/office/officeart/2005/8/layout/chevronAccent+Icon"/>
    <dgm:cxn modelId="{245C8799-49E3-4368-89AE-3F6EB9558833}" type="presParOf" srcId="{196332BA-A49B-4950-93E0-A202FA154315}" destId="{1052D6CB-51D3-40D6-BDD8-D8788B819ACF}" srcOrd="2" destOrd="0" presId="urn:microsoft.com/office/officeart/2005/8/layout/chevronAccent+Icon"/>
    <dgm:cxn modelId="{BEAC23B7-32A3-4F86-B9F4-F81D305D4BE9}" type="presParOf" srcId="{1052D6CB-51D3-40D6-BDD8-D8788B819ACF}" destId="{5DBBECC2-B7E2-444F-A887-1AF0C21E470E}" srcOrd="0" destOrd="0" presId="urn:microsoft.com/office/officeart/2005/8/layout/chevronAccent+Icon"/>
    <dgm:cxn modelId="{CB2E8B33-CD58-445B-8011-32BB7A6DD190}" type="presParOf" srcId="{1052D6CB-51D3-40D6-BDD8-D8788B819ACF}" destId="{5D9CE63A-293E-4CAC-A950-FA5DE7B0FFFD}" srcOrd="1" destOrd="0" presId="urn:microsoft.com/office/officeart/2005/8/layout/chevronAccent+Icon"/>
    <dgm:cxn modelId="{93CFCE0B-B912-436E-A1AC-5217F1AAD503}" type="presParOf" srcId="{196332BA-A49B-4950-93E0-A202FA154315}" destId="{5752D2D0-D6B4-4C53-9672-A0B54E2CA27D}" srcOrd="3" destOrd="0" presId="urn:microsoft.com/office/officeart/2005/8/layout/chevronAccent+Icon"/>
    <dgm:cxn modelId="{B0A203E0-7BFD-455F-A16A-38FC24E20BE9}" type="presParOf" srcId="{196332BA-A49B-4950-93E0-A202FA154315}" destId="{8CB60FC0-8926-4056-B1CE-DCE30921060E}" srcOrd="4" destOrd="0" presId="urn:microsoft.com/office/officeart/2005/8/layout/chevronAccent+Icon"/>
    <dgm:cxn modelId="{7F168824-93A9-4CE2-9A50-5ACAE679C546}" type="presParOf" srcId="{8CB60FC0-8926-4056-B1CE-DCE30921060E}" destId="{3DFCC206-904C-4780-B79E-72D54B7975AC}" srcOrd="0" destOrd="0" presId="urn:microsoft.com/office/officeart/2005/8/layout/chevronAccent+Icon"/>
    <dgm:cxn modelId="{A63A3A27-61F8-4ABC-9821-1C327F15B3CD}" type="presParOf" srcId="{8CB60FC0-8926-4056-B1CE-DCE30921060E}" destId="{148B8BA2-7ABF-49BD-9EAC-223F44A4E660}" srcOrd="1" destOrd="0" presId="urn:microsoft.com/office/officeart/2005/8/layout/chevronAccent+Icon"/>
    <dgm:cxn modelId="{B5F0EA14-28D5-40AD-853D-ACF773F19ECE}" type="presParOf" srcId="{196332BA-A49B-4950-93E0-A202FA154315}" destId="{3D384448-611E-4133-906D-D0E2895A8233}" srcOrd="5" destOrd="0" presId="urn:microsoft.com/office/officeart/2005/8/layout/chevronAccent+Icon"/>
    <dgm:cxn modelId="{0D39425B-723C-4C9C-B828-52BC8BB2858D}" type="presParOf" srcId="{196332BA-A49B-4950-93E0-A202FA154315}" destId="{A8925880-E84F-4285-906B-CE32BBD2AFB9}" srcOrd="6" destOrd="0" presId="urn:microsoft.com/office/officeart/2005/8/layout/chevronAccent+Icon"/>
    <dgm:cxn modelId="{747B7E9F-29DD-4EAF-84C4-C694A325E434}" type="presParOf" srcId="{A8925880-E84F-4285-906B-CE32BBD2AFB9}" destId="{DAD313B6-83B1-4022-AA98-4A974F19E0FE}" srcOrd="0" destOrd="0" presId="urn:microsoft.com/office/officeart/2005/8/layout/chevronAccent+Icon"/>
    <dgm:cxn modelId="{C75BC557-FCE6-4D3F-BD79-1921DA423214}" type="presParOf" srcId="{A8925880-E84F-4285-906B-CE32BBD2AFB9}" destId="{FAF1016E-0529-428E-8138-962FF6474F8C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03166D-70E9-4A25-9BC8-69D75CAF9005}" type="doc">
      <dgm:prSet loTypeId="urn:microsoft.com/office/officeart/2005/8/layout/vList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A21C75D-5E95-495D-8D2A-E943F3A51FB9}">
      <dgm:prSet/>
      <dgm:spPr/>
      <dgm:t>
        <a:bodyPr/>
        <a:lstStyle/>
        <a:p>
          <a:r>
            <a:rPr lang="en-US" b="1" dirty="0"/>
            <a:t>Dashboard Overview</a:t>
          </a:r>
          <a:r>
            <a:rPr lang="en-US" dirty="0"/>
            <a:t> – Summary statistics and system status</a:t>
          </a:r>
          <a:endParaRPr lang="en-IN" dirty="0"/>
        </a:p>
      </dgm:t>
    </dgm:pt>
    <dgm:pt modelId="{55AFDB20-2379-4959-9856-5ED3C18D15A3}" type="parTrans" cxnId="{9D45E264-0D88-4D08-A4BB-F8AEA353D971}">
      <dgm:prSet/>
      <dgm:spPr/>
      <dgm:t>
        <a:bodyPr/>
        <a:lstStyle/>
        <a:p>
          <a:endParaRPr lang="en-IN"/>
        </a:p>
      </dgm:t>
    </dgm:pt>
    <dgm:pt modelId="{C1C5692A-4DE9-4A32-90F6-020AB6C632EE}" type="sibTrans" cxnId="{9D45E264-0D88-4D08-A4BB-F8AEA353D971}">
      <dgm:prSet/>
      <dgm:spPr/>
      <dgm:t>
        <a:bodyPr/>
        <a:lstStyle/>
        <a:p>
          <a:endParaRPr lang="en-IN"/>
        </a:p>
      </dgm:t>
    </dgm:pt>
    <dgm:pt modelId="{D4C631A8-F59F-4070-9959-ECC594B36961}">
      <dgm:prSet/>
      <dgm:spPr/>
      <dgm:t>
        <a:bodyPr/>
        <a:lstStyle/>
        <a:p>
          <a:r>
            <a:rPr lang="en-US" b="1"/>
            <a:t>Weekly Class Timetable</a:t>
          </a:r>
          <a:r>
            <a:rPr lang="en-US"/>
            <a:t> – Interactive day-wise and period-wise grid</a:t>
          </a:r>
          <a:endParaRPr lang="en-IN"/>
        </a:p>
      </dgm:t>
    </dgm:pt>
    <dgm:pt modelId="{5CCFDCED-96A2-4D33-9EED-6CD85925134C}" type="parTrans" cxnId="{C77B0977-A3FF-46C1-817B-177C5414BDF7}">
      <dgm:prSet/>
      <dgm:spPr/>
      <dgm:t>
        <a:bodyPr/>
        <a:lstStyle/>
        <a:p>
          <a:endParaRPr lang="en-IN"/>
        </a:p>
      </dgm:t>
    </dgm:pt>
    <dgm:pt modelId="{807E302F-7B87-4C26-838F-05A1B01FEA83}" type="sibTrans" cxnId="{C77B0977-A3FF-46C1-817B-177C5414BDF7}">
      <dgm:prSet/>
      <dgm:spPr/>
      <dgm:t>
        <a:bodyPr/>
        <a:lstStyle/>
        <a:p>
          <a:endParaRPr lang="en-IN"/>
        </a:p>
      </dgm:t>
    </dgm:pt>
    <dgm:pt modelId="{65244A82-D821-4DAC-8E8B-276301B8ED85}">
      <dgm:prSet/>
      <dgm:spPr/>
      <dgm:t>
        <a:bodyPr/>
        <a:lstStyle/>
        <a:p>
          <a:r>
            <a:rPr lang="en-US" b="1" dirty="0"/>
            <a:t>Multi-Stage Exam Scheduler</a:t>
          </a:r>
          <a:r>
            <a:rPr lang="en-US" dirty="0"/>
            <a:t> – CT-1, CT-2, Practical, and End-Semester Theory</a:t>
          </a:r>
          <a:endParaRPr lang="en-IN" dirty="0"/>
        </a:p>
      </dgm:t>
    </dgm:pt>
    <dgm:pt modelId="{78F20967-FD91-4BC8-8917-BD70872BB068}" type="parTrans" cxnId="{54ED50AE-2A22-4393-B4EA-51B69D5A4438}">
      <dgm:prSet/>
      <dgm:spPr/>
      <dgm:t>
        <a:bodyPr/>
        <a:lstStyle/>
        <a:p>
          <a:endParaRPr lang="en-IN"/>
        </a:p>
      </dgm:t>
    </dgm:pt>
    <dgm:pt modelId="{0E4DFC5A-B7F7-4DFB-8D0E-2A916F62B324}" type="sibTrans" cxnId="{54ED50AE-2A22-4393-B4EA-51B69D5A4438}">
      <dgm:prSet/>
      <dgm:spPr/>
      <dgm:t>
        <a:bodyPr/>
        <a:lstStyle/>
        <a:p>
          <a:endParaRPr lang="en-IN"/>
        </a:p>
      </dgm:t>
    </dgm:pt>
    <dgm:pt modelId="{BC09F6A9-7281-4FD4-B9DA-4D29EB6AE57C}">
      <dgm:prSet/>
      <dgm:spPr/>
      <dgm:t>
        <a:bodyPr/>
        <a:lstStyle/>
        <a:p>
          <a:r>
            <a:rPr lang="en-US" b="1"/>
            <a:t>Rooms &amp; Free Room Tracker</a:t>
          </a:r>
          <a:r>
            <a:rPr lang="en-US"/>
            <a:t> – Room utilization and availability</a:t>
          </a:r>
          <a:endParaRPr lang="en-IN"/>
        </a:p>
      </dgm:t>
    </dgm:pt>
    <dgm:pt modelId="{84D91B5B-F593-4029-B8FE-31F63453C31A}" type="parTrans" cxnId="{8460501A-043E-4D79-A627-FDF91F01991A}">
      <dgm:prSet/>
      <dgm:spPr/>
      <dgm:t>
        <a:bodyPr/>
        <a:lstStyle/>
        <a:p>
          <a:endParaRPr lang="en-IN"/>
        </a:p>
      </dgm:t>
    </dgm:pt>
    <dgm:pt modelId="{20797B3E-2657-492D-9D26-B287C9F1721A}" type="sibTrans" cxnId="{8460501A-043E-4D79-A627-FDF91F01991A}">
      <dgm:prSet/>
      <dgm:spPr/>
      <dgm:t>
        <a:bodyPr/>
        <a:lstStyle/>
        <a:p>
          <a:endParaRPr lang="en-IN"/>
        </a:p>
      </dgm:t>
    </dgm:pt>
    <dgm:pt modelId="{C287686F-7077-40FD-91E1-A1E41BF65485}">
      <dgm:prSet/>
      <dgm:spPr/>
      <dgm:t>
        <a:bodyPr/>
        <a:lstStyle/>
        <a:p>
          <a:r>
            <a:rPr lang="en-US" b="1"/>
            <a:t>Faculty Directory</a:t>
          </a:r>
          <a:r>
            <a:rPr lang="en-US"/>
            <a:t> – Faculty profiles and teaching workload</a:t>
          </a:r>
          <a:endParaRPr lang="en-IN"/>
        </a:p>
      </dgm:t>
    </dgm:pt>
    <dgm:pt modelId="{D9431280-1328-491E-AF7D-D1CE65DD4DF1}" type="parTrans" cxnId="{DF69FA9A-58D9-4625-BD01-1247F86AF2E7}">
      <dgm:prSet/>
      <dgm:spPr/>
      <dgm:t>
        <a:bodyPr/>
        <a:lstStyle/>
        <a:p>
          <a:endParaRPr lang="en-IN"/>
        </a:p>
      </dgm:t>
    </dgm:pt>
    <dgm:pt modelId="{3B5A882E-616D-4F66-9D3D-2135B19BF7A6}" type="sibTrans" cxnId="{DF69FA9A-58D9-4625-BD01-1247F86AF2E7}">
      <dgm:prSet/>
      <dgm:spPr/>
      <dgm:t>
        <a:bodyPr/>
        <a:lstStyle/>
        <a:p>
          <a:endParaRPr lang="en-IN"/>
        </a:p>
      </dgm:t>
    </dgm:pt>
    <dgm:pt modelId="{3F573886-4FB5-4D55-A48E-0D0AD7DCD87F}">
      <dgm:prSet/>
      <dgm:spPr/>
      <dgm:t>
        <a:bodyPr/>
        <a:lstStyle/>
        <a:p>
          <a:r>
            <a:rPr lang="en-US" b="1"/>
            <a:t>Personalized Student Timetable</a:t>
          </a:r>
          <a:r>
            <a:rPr lang="en-US"/>
            <a:t> – Individual student view with CSV export</a:t>
          </a:r>
          <a:endParaRPr lang="en-IN"/>
        </a:p>
      </dgm:t>
    </dgm:pt>
    <dgm:pt modelId="{642F4291-108B-462F-9387-4695B0BCF2A3}" type="parTrans" cxnId="{0BE5B14A-C239-48D5-BA52-BA334C1EE390}">
      <dgm:prSet/>
      <dgm:spPr/>
      <dgm:t>
        <a:bodyPr/>
        <a:lstStyle/>
        <a:p>
          <a:endParaRPr lang="en-IN"/>
        </a:p>
      </dgm:t>
    </dgm:pt>
    <dgm:pt modelId="{5A74199E-CAB9-4BF7-A9DB-FA07FC1B89C0}" type="sibTrans" cxnId="{0BE5B14A-C239-48D5-BA52-BA334C1EE390}">
      <dgm:prSet/>
      <dgm:spPr/>
      <dgm:t>
        <a:bodyPr/>
        <a:lstStyle/>
        <a:p>
          <a:endParaRPr lang="en-IN"/>
        </a:p>
      </dgm:t>
    </dgm:pt>
    <dgm:pt modelId="{96C62C42-7EA7-45BC-86D1-86F6CDAA0080}">
      <dgm:prSet/>
      <dgm:spPr/>
      <dgm:t>
        <a:bodyPr/>
        <a:lstStyle/>
        <a:p>
          <a:r>
            <a:rPr lang="en-US" b="1"/>
            <a:t>Smart Allocator</a:t>
          </a:r>
          <a:r>
            <a:rPr lang="en-US"/>
            <a:t> – Live CSP + Simulated Annealing solver</a:t>
          </a:r>
          <a:endParaRPr lang="en-IN"/>
        </a:p>
      </dgm:t>
    </dgm:pt>
    <dgm:pt modelId="{19B43B37-5731-468D-A53B-D71A1AD30675}" type="parTrans" cxnId="{A90A6D1D-C9E6-4396-B899-CB4789373A2A}">
      <dgm:prSet/>
      <dgm:spPr/>
      <dgm:t>
        <a:bodyPr/>
        <a:lstStyle/>
        <a:p>
          <a:endParaRPr lang="en-IN"/>
        </a:p>
      </dgm:t>
    </dgm:pt>
    <dgm:pt modelId="{EAB75FC0-6AA8-4A05-8B92-22440860DEED}" type="sibTrans" cxnId="{A90A6D1D-C9E6-4396-B899-CB4789373A2A}">
      <dgm:prSet/>
      <dgm:spPr/>
      <dgm:t>
        <a:bodyPr/>
        <a:lstStyle/>
        <a:p>
          <a:endParaRPr lang="en-IN"/>
        </a:p>
      </dgm:t>
    </dgm:pt>
    <dgm:pt modelId="{EFC81D89-D423-4F29-A8FA-B0987F563401}">
      <dgm:prSet/>
      <dgm:spPr/>
      <dgm:t>
        <a:bodyPr/>
        <a:lstStyle/>
        <a:p>
          <a:r>
            <a:rPr lang="en-US" b="1"/>
            <a:t>Conflict Resolver</a:t>
          </a:r>
          <a:r>
            <a:rPr lang="en-US"/>
            <a:t> – Independent final conflict verification</a:t>
          </a:r>
          <a:endParaRPr lang="en-IN"/>
        </a:p>
      </dgm:t>
    </dgm:pt>
    <dgm:pt modelId="{49B59B9B-27D4-4423-872C-587699BF699B}" type="parTrans" cxnId="{C894A65B-1D34-4485-9A64-13719A82CAAB}">
      <dgm:prSet/>
      <dgm:spPr/>
      <dgm:t>
        <a:bodyPr/>
        <a:lstStyle/>
        <a:p>
          <a:endParaRPr lang="en-IN"/>
        </a:p>
      </dgm:t>
    </dgm:pt>
    <dgm:pt modelId="{E903CF45-D964-4090-86CA-958E71E9DFFF}" type="sibTrans" cxnId="{C894A65B-1D34-4485-9A64-13719A82CAAB}">
      <dgm:prSet/>
      <dgm:spPr/>
      <dgm:t>
        <a:bodyPr/>
        <a:lstStyle/>
        <a:p>
          <a:endParaRPr lang="en-IN"/>
        </a:p>
      </dgm:t>
    </dgm:pt>
    <dgm:pt modelId="{30C210F8-760F-49C1-BE26-B32D94A0C028}" type="pres">
      <dgm:prSet presAssocID="{0503166D-70E9-4A25-9BC8-69D75CAF9005}" presName="linearFlow" presStyleCnt="0">
        <dgm:presLayoutVars>
          <dgm:dir/>
          <dgm:resizeHandles val="exact"/>
        </dgm:presLayoutVars>
      </dgm:prSet>
      <dgm:spPr/>
    </dgm:pt>
    <dgm:pt modelId="{3EC42E36-4818-45AB-89BF-C82F814F2ED8}" type="pres">
      <dgm:prSet presAssocID="{6A21C75D-5E95-495D-8D2A-E943F3A51FB9}" presName="composite" presStyleCnt="0"/>
      <dgm:spPr/>
    </dgm:pt>
    <dgm:pt modelId="{D5EB3DBD-7A2E-4330-AE1D-396EC72586F2}" type="pres">
      <dgm:prSet presAssocID="{6A21C75D-5E95-495D-8D2A-E943F3A51FB9}" presName="imgShp" presStyleLbl="fgImgPlace1" presStyleIdx="0" presStyleCnt="8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295BA210-C1D0-4089-B1DF-3E845E2C28C0}" type="pres">
      <dgm:prSet presAssocID="{6A21C75D-5E95-495D-8D2A-E943F3A51FB9}" presName="txShp" presStyleLbl="node1" presStyleIdx="0" presStyleCnt="8">
        <dgm:presLayoutVars>
          <dgm:bulletEnabled val="1"/>
        </dgm:presLayoutVars>
      </dgm:prSet>
      <dgm:spPr/>
    </dgm:pt>
    <dgm:pt modelId="{4E57F0B7-C1A2-4BDF-9C9C-22BB2EB4ED42}" type="pres">
      <dgm:prSet presAssocID="{C1C5692A-4DE9-4A32-90F6-020AB6C632EE}" presName="spacing" presStyleCnt="0"/>
      <dgm:spPr/>
    </dgm:pt>
    <dgm:pt modelId="{68E8D959-3914-41F8-BAA9-A127D7BA385B}" type="pres">
      <dgm:prSet presAssocID="{D4C631A8-F59F-4070-9959-ECC594B36961}" presName="composite" presStyleCnt="0"/>
      <dgm:spPr/>
    </dgm:pt>
    <dgm:pt modelId="{2ED03B8E-4C6A-49EA-B758-9821722DCA43}" type="pres">
      <dgm:prSet presAssocID="{D4C631A8-F59F-4070-9959-ECC594B36961}" presName="imgShp" presStyleLbl="fgImgPlace1" presStyleIdx="1" presStyleCnt="8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A89B6DEE-A035-4021-BB13-FABA4D5E4540}" type="pres">
      <dgm:prSet presAssocID="{D4C631A8-F59F-4070-9959-ECC594B36961}" presName="txShp" presStyleLbl="node1" presStyleIdx="1" presStyleCnt="8">
        <dgm:presLayoutVars>
          <dgm:bulletEnabled val="1"/>
        </dgm:presLayoutVars>
      </dgm:prSet>
      <dgm:spPr/>
    </dgm:pt>
    <dgm:pt modelId="{62E539A8-B7D8-46F9-873A-D1727858E44A}" type="pres">
      <dgm:prSet presAssocID="{807E302F-7B87-4C26-838F-05A1B01FEA83}" presName="spacing" presStyleCnt="0"/>
      <dgm:spPr/>
    </dgm:pt>
    <dgm:pt modelId="{5731C091-CBDB-423A-82F1-F85A614C9611}" type="pres">
      <dgm:prSet presAssocID="{65244A82-D821-4DAC-8E8B-276301B8ED85}" presName="composite" presStyleCnt="0"/>
      <dgm:spPr/>
    </dgm:pt>
    <dgm:pt modelId="{FDED1DBD-52B2-416D-9010-4BB8560E08CF}" type="pres">
      <dgm:prSet presAssocID="{65244A82-D821-4DAC-8E8B-276301B8ED85}" presName="imgShp" presStyleLbl="fgImgPlace1" presStyleIdx="2" presStyleCnt="8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FF85E42-7E69-4F5D-B66F-FC826A941582}" type="pres">
      <dgm:prSet presAssocID="{65244A82-D821-4DAC-8E8B-276301B8ED85}" presName="txShp" presStyleLbl="node1" presStyleIdx="2" presStyleCnt="8">
        <dgm:presLayoutVars>
          <dgm:bulletEnabled val="1"/>
        </dgm:presLayoutVars>
      </dgm:prSet>
      <dgm:spPr/>
    </dgm:pt>
    <dgm:pt modelId="{83E4524D-AAAC-4BC5-8226-1349E4D5A390}" type="pres">
      <dgm:prSet presAssocID="{0E4DFC5A-B7F7-4DFB-8D0E-2A916F62B324}" presName="spacing" presStyleCnt="0"/>
      <dgm:spPr/>
    </dgm:pt>
    <dgm:pt modelId="{CFD5C3D4-C116-48ED-B884-2D67D0E714CF}" type="pres">
      <dgm:prSet presAssocID="{BC09F6A9-7281-4FD4-B9DA-4D29EB6AE57C}" presName="composite" presStyleCnt="0"/>
      <dgm:spPr/>
    </dgm:pt>
    <dgm:pt modelId="{ECE39436-1C78-441D-86CF-1F581FD6608F}" type="pres">
      <dgm:prSet presAssocID="{BC09F6A9-7281-4FD4-B9DA-4D29EB6AE57C}" presName="imgShp" presStyleLbl="fgImgPlace1" presStyleIdx="3" presStyleCnt="8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0C4462A7-56FB-45F8-9C0A-69C99489EECD}" type="pres">
      <dgm:prSet presAssocID="{BC09F6A9-7281-4FD4-B9DA-4D29EB6AE57C}" presName="txShp" presStyleLbl="node1" presStyleIdx="3" presStyleCnt="8">
        <dgm:presLayoutVars>
          <dgm:bulletEnabled val="1"/>
        </dgm:presLayoutVars>
      </dgm:prSet>
      <dgm:spPr/>
    </dgm:pt>
    <dgm:pt modelId="{B24FD11B-B132-4A7C-8585-927481A42383}" type="pres">
      <dgm:prSet presAssocID="{20797B3E-2657-492D-9D26-B287C9F1721A}" presName="spacing" presStyleCnt="0"/>
      <dgm:spPr/>
    </dgm:pt>
    <dgm:pt modelId="{CC4D82B8-7898-4927-A31D-506D4F6D9A0F}" type="pres">
      <dgm:prSet presAssocID="{C287686F-7077-40FD-91E1-A1E41BF65485}" presName="composite" presStyleCnt="0"/>
      <dgm:spPr/>
    </dgm:pt>
    <dgm:pt modelId="{B08A9433-5285-4720-B615-CAF858ED36C4}" type="pres">
      <dgm:prSet presAssocID="{C287686F-7077-40FD-91E1-A1E41BF65485}" presName="imgShp" presStyleLbl="fgImgPlace1" presStyleIdx="4" presStyleCnt="8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743B3C46-0C26-4FEC-961B-8B20D41C701A}" type="pres">
      <dgm:prSet presAssocID="{C287686F-7077-40FD-91E1-A1E41BF65485}" presName="txShp" presStyleLbl="node1" presStyleIdx="4" presStyleCnt="8">
        <dgm:presLayoutVars>
          <dgm:bulletEnabled val="1"/>
        </dgm:presLayoutVars>
      </dgm:prSet>
      <dgm:spPr/>
    </dgm:pt>
    <dgm:pt modelId="{912BC5ED-C78B-4F1C-87D2-D007DB30ECC9}" type="pres">
      <dgm:prSet presAssocID="{3B5A882E-616D-4F66-9D3D-2135B19BF7A6}" presName="spacing" presStyleCnt="0"/>
      <dgm:spPr/>
    </dgm:pt>
    <dgm:pt modelId="{CC6C40B0-6583-4C16-88E7-7729FF0AAF2C}" type="pres">
      <dgm:prSet presAssocID="{3F573886-4FB5-4D55-A48E-0D0AD7DCD87F}" presName="composite" presStyleCnt="0"/>
      <dgm:spPr/>
    </dgm:pt>
    <dgm:pt modelId="{086BA629-2BF0-4A84-B153-92201BCD313C}" type="pres">
      <dgm:prSet presAssocID="{3F573886-4FB5-4D55-A48E-0D0AD7DCD87F}" presName="imgShp" presStyleLbl="fgImgPlace1" presStyleIdx="5" presStyleCnt="8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D16504D1-A23F-4C5A-A1D0-466C94D2EDA4}" type="pres">
      <dgm:prSet presAssocID="{3F573886-4FB5-4D55-A48E-0D0AD7DCD87F}" presName="txShp" presStyleLbl="node1" presStyleIdx="5" presStyleCnt="8">
        <dgm:presLayoutVars>
          <dgm:bulletEnabled val="1"/>
        </dgm:presLayoutVars>
      </dgm:prSet>
      <dgm:spPr/>
    </dgm:pt>
    <dgm:pt modelId="{2EAE48B6-0858-4A27-B63A-AE53B3DEE915}" type="pres">
      <dgm:prSet presAssocID="{5A74199E-CAB9-4BF7-A9DB-FA07FC1B89C0}" presName="spacing" presStyleCnt="0"/>
      <dgm:spPr/>
    </dgm:pt>
    <dgm:pt modelId="{19BF9BF7-1777-4F0E-8417-6939824BD5D2}" type="pres">
      <dgm:prSet presAssocID="{96C62C42-7EA7-45BC-86D1-86F6CDAA0080}" presName="composite" presStyleCnt="0"/>
      <dgm:spPr/>
    </dgm:pt>
    <dgm:pt modelId="{B72D7E5A-996F-49CA-810A-7BF6D29117FD}" type="pres">
      <dgm:prSet presAssocID="{96C62C42-7EA7-45BC-86D1-86F6CDAA0080}" presName="imgShp" presStyleLbl="fgImgPlace1" presStyleIdx="6" presStyleCnt="8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oting star"/>
        </a:ext>
      </dgm:extLst>
    </dgm:pt>
    <dgm:pt modelId="{0A99533D-FACC-4C07-966D-CE79E6CDFA30}" type="pres">
      <dgm:prSet presAssocID="{96C62C42-7EA7-45BC-86D1-86F6CDAA0080}" presName="txShp" presStyleLbl="node1" presStyleIdx="6" presStyleCnt="8">
        <dgm:presLayoutVars>
          <dgm:bulletEnabled val="1"/>
        </dgm:presLayoutVars>
      </dgm:prSet>
      <dgm:spPr/>
    </dgm:pt>
    <dgm:pt modelId="{0E5EB349-48CF-40A1-9452-1C5AE27D50EA}" type="pres">
      <dgm:prSet presAssocID="{EAB75FC0-6AA8-4A05-8B92-22440860DEED}" presName="spacing" presStyleCnt="0"/>
      <dgm:spPr/>
    </dgm:pt>
    <dgm:pt modelId="{D4559740-4AFF-40A9-9EED-5A21D55D0D0B}" type="pres">
      <dgm:prSet presAssocID="{EFC81D89-D423-4F29-A8FA-B0987F563401}" presName="composite" presStyleCnt="0"/>
      <dgm:spPr/>
    </dgm:pt>
    <dgm:pt modelId="{B0C55E17-BCBD-4C77-A364-5E7D2A747350}" type="pres">
      <dgm:prSet presAssocID="{EFC81D89-D423-4F29-A8FA-B0987F563401}" presName="imgShp" presStyleLbl="fgImgPlace1" presStyleIdx="7" presStyleCnt="8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CE50B58-C082-4320-8820-3FF77D0B1AFE}" type="pres">
      <dgm:prSet presAssocID="{EFC81D89-D423-4F29-A8FA-B0987F563401}" presName="txShp" presStyleLbl="node1" presStyleIdx="7" presStyleCnt="8">
        <dgm:presLayoutVars>
          <dgm:bulletEnabled val="1"/>
        </dgm:presLayoutVars>
      </dgm:prSet>
      <dgm:spPr/>
    </dgm:pt>
  </dgm:ptLst>
  <dgm:cxnLst>
    <dgm:cxn modelId="{4EAD8810-CCEA-48C1-9B83-639DEEC94467}" type="presOf" srcId="{65244A82-D821-4DAC-8E8B-276301B8ED85}" destId="{AFF85E42-7E69-4F5D-B66F-FC826A941582}" srcOrd="0" destOrd="0" presId="urn:microsoft.com/office/officeart/2005/8/layout/vList3"/>
    <dgm:cxn modelId="{E3911015-0A56-46C8-9AAC-5A2F74B24DDA}" type="presOf" srcId="{0503166D-70E9-4A25-9BC8-69D75CAF9005}" destId="{30C210F8-760F-49C1-BE26-B32D94A0C028}" srcOrd="0" destOrd="0" presId="urn:microsoft.com/office/officeart/2005/8/layout/vList3"/>
    <dgm:cxn modelId="{8460501A-043E-4D79-A627-FDF91F01991A}" srcId="{0503166D-70E9-4A25-9BC8-69D75CAF9005}" destId="{BC09F6A9-7281-4FD4-B9DA-4D29EB6AE57C}" srcOrd="3" destOrd="0" parTransId="{84D91B5B-F593-4029-B8FE-31F63453C31A}" sibTransId="{20797B3E-2657-492D-9D26-B287C9F1721A}"/>
    <dgm:cxn modelId="{A90A6D1D-C9E6-4396-B899-CB4789373A2A}" srcId="{0503166D-70E9-4A25-9BC8-69D75CAF9005}" destId="{96C62C42-7EA7-45BC-86D1-86F6CDAA0080}" srcOrd="6" destOrd="0" parTransId="{19B43B37-5731-468D-A53B-D71A1AD30675}" sibTransId="{EAB75FC0-6AA8-4A05-8B92-22440860DEED}"/>
    <dgm:cxn modelId="{7057A61D-4244-4100-8F1D-2CBF5931351A}" type="presOf" srcId="{EFC81D89-D423-4F29-A8FA-B0987F563401}" destId="{8CE50B58-C082-4320-8820-3FF77D0B1AFE}" srcOrd="0" destOrd="0" presId="urn:microsoft.com/office/officeart/2005/8/layout/vList3"/>
    <dgm:cxn modelId="{C894A65B-1D34-4485-9A64-13719A82CAAB}" srcId="{0503166D-70E9-4A25-9BC8-69D75CAF9005}" destId="{EFC81D89-D423-4F29-A8FA-B0987F563401}" srcOrd="7" destOrd="0" parTransId="{49B59B9B-27D4-4423-872C-587699BF699B}" sibTransId="{E903CF45-D964-4090-86CA-958E71E9DFFF}"/>
    <dgm:cxn modelId="{D00F255C-0944-4742-BFDD-678DF3A67E0C}" type="presOf" srcId="{D4C631A8-F59F-4070-9959-ECC594B36961}" destId="{A89B6DEE-A035-4021-BB13-FABA4D5E4540}" srcOrd="0" destOrd="0" presId="urn:microsoft.com/office/officeart/2005/8/layout/vList3"/>
    <dgm:cxn modelId="{9D45E264-0D88-4D08-A4BB-F8AEA353D971}" srcId="{0503166D-70E9-4A25-9BC8-69D75CAF9005}" destId="{6A21C75D-5E95-495D-8D2A-E943F3A51FB9}" srcOrd="0" destOrd="0" parTransId="{55AFDB20-2379-4959-9856-5ED3C18D15A3}" sibTransId="{C1C5692A-4DE9-4A32-90F6-020AB6C632EE}"/>
    <dgm:cxn modelId="{68390D68-E48C-4457-B901-F7368FA6D35C}" type="presOf" srcId="{3F573886-4FB5-4D55-A48E-0D0AD7DCD87F}" destId="{D16504D1-A23F-4C5A-A1D0-466C94D2EDA4}" srcOrd="0" destOrd="0" presId="urn:microsoft.com/office/officeart/2005/8/layout/vList3"/>
    <dgm:cxn modelId="{0BE5B14A-C239-48D5-BA52-BA334C1EE390}" srcId="{0503166D-70E9-4A25-9BC8-69D75CAF9005}" destId="{3F573886-4FB5-4D55-A48E-0D0AD7DCD87F}" srcOrd="5" destOrd="0" parTransId="{642F4291-108B-462F-9387-4695B0BCF2A3}" sibTransId="{5A74199E-CAB9-4BF7-A9DB-FA07FC1B89C0}"/>
    <dgm:cxn modelId="{65DDD16F-84D5-48CA-A457-4DD4DDCCD251}" type="presOf" srcId="{96C62C42-7EA7-45BC-86D1-86F6CDAA0080}" destId="{0A99533D-FACC-4C07-966D-CE79E6CDFA30}" srcOrd="0" destOrd="0" presId="urn:microsoft.com/office/officeart/2005/8/layout/vList3"/>
    <dgm:cxn modelId="{C77B0977-A3FF-46C1-817B-177C5414BDF7}" srcId="{0503166D-70E9-4A25-9BC8-69D75CAF9005}" destId="{D4C631A8-F59F-4070-9959-ECC594B36961}" srcOrd="1" destOrd="0" parTransId="{5CCFDCED-96A2-4D33-9EED-6CD85925134C}" sibTransId="{807E302F-7B87-4C26-838F-05A1B01FEA83}"/>
    <dgm:cxn modelId="{25C72F7B-8064-4916-84F3-B9FDAFC818D9}" type="presOf" srcId="{6A21C75D-5E95-495D-8D2A-E943F3A51FB9}" destId="{295BA210-C1D0-4089-B1DF-3E845E2C28C0}" srcOrd="0" destOrd="0" presId="urn:microsoft.com/office/officeart/2005/8/layout/vList3"/>
    <dgm:cxn modelId="{F9E1768A-3DE2-4904-B09F-BA00508C2BB7}" type="presOf" srcId="{C287686F-7077-40FD-91E1-A1E41BF65485}" destId="{743B3C46-0C26-4FEC-961B-8B20D41C701A}" srcOrd="0" destOrd="0" presId="urn:microsoft.com/office/officeart/2005/8/layout/vList3"/>
    <dgm:cxn modelId="{DF69FA9A-58D9-4625-BD01-1247F86AF2E7}" srcId="{0503166D-70E9-4A25-9BC8-69D75CAF9005}" destId="{C287686F-7077-40FD-91E1-A1E41BF65485}" srcOrd="4" destOrd="0" parTransId="{D9431280-1328-491E-AF7D-D1CE65DD4DF1}" sibTransId="{3B5A882E-616D-4F66-9D3D-2135B19BF7A6}"/>
    <dgm:cxn modelId="{D2936DA3-7793-48EA-9407-8A9104D05467}" type="presOf" srcId="{BC09F6A9-7281-4FD4-B9DA-4D29EB6AE57C}" destId="{0C4462A7-56FB-45F8-9C0A-69C99489EECD}" srcOrd="0" destOrd="0" presId="urn:microsoft.com/office/officeart/2005/8/layout/vList3"/>
    <dgm:cxn modelId="{54ED50AE-2A22-4393-B4EA-51B69D5A4438}" srcId="{0503166D-70E9-4A25-9BC8-69D75CAF9005}" destId="{65244A82-D821-4DAC-8E8B-276301B8ED85}" srcOrd="2" destOrd="0" parTransId="{78F20967-FD91-4BC8-8917-BD70872BB068}" sibTransId="{0E4DFC5A-B7F7-4DFB-8D0E-2A916F62B324}"/>
    <dgm:cxn modelId="{A4E799B7-CD1A-4AB3-93A9-81E7FB67A55F}" type="presParOf" srcId="{30C210F8-760F-49C1-BE26-B32D94A0C028}" destId="{3EC42E36-4818-45AB-89BF-C82F814F2ED8}" srcOrd="0" destOrd="0" presId="urn:microsoft.com/office/officeart/2005/8/layout/vList3"/>
    <dgm:cxn modelId="{3EF95EBC-BC3B-4514-B6E3-556505C6DBA1}" type="presParOf" srcId="{3EC42E36-4818-45AB-89BF-C82F814F2ED8}" destId="{D5EB3DBD-7A2E-4330-AE1D-396EC72586F2}" srcOrd="0" destOrd="0" presId="urn:microsoft.com/office/officeart/2005/8/layout/vList3"/>
    <dgm:cxn modelId="{374EBF73-C119-4C4F-8916-D9D5017D3974}" type="presParOf" srcId="{3EC42E36-4818-45AB-89BF-C82F814F2ED8}" destId="{295BA210-C1D0-4089-B1DF-3E845E2C28C0}" srcOrd="1" destOrd="0" presId="urn:microsoft.com/office/officeart/2005/8/layout/vList3"/>
    <dgm:cxn modelId="{4F6E07EC-F69F-4EC8-BEF1-959398AE4B5D}" type="presParOf" srcId="{30C210F8-760F-49C1-BE26-B32D94A0C028}" destId="{4E57F0B7-C1A2-4BDF-9C9C-22BB2EB4ED42}" srcOrd="1" destOrd="0" presId="urn:microsoft.com/office/officeart/2005/8/layout/vList3"/>
    <dgm:cxn modelId="{95E2A721-8AD5-4DA3-ACF1-8C6FD46A5D31}" type="presParOf" srcId="{30C210F8-760F-49C1-BE26-B32D94A0C028}" destId="{68E8D959-3914-41F8-BAA9-A127D7BA385B}" srcOrd="2" destOrd="0" presId="urn:microsoft.com/office/officeart/2005/8/layout/vList3"/>
    <dgm:cxn modelId="{B2488444-77EE-405F-9AE5-F422C170264E}" type="presParOf" srcId="{68E8D959-3914-41F8-BAA9-A127D7BA385B}" destId="{2ED03B8E-4C6A-49EA-B758-9821722DCA43}" srcOrd="0" destOrd="0" presId="urn:microsoft.com/office/officeart/2005/8/layout/vList3"/>
    <dgm:cxn modelId="{29FEA020-1741-4210-9254-508937F7D33E}" type="presParOf" srcId="{68E8D959-3914-41F8-BAA9-A127D7BA385B}" destId="{A89B6DEE-A035-4021-BB13-FABA4D5E4540}" srcOrd="1" destOrd="0" presId="urn:microsoft.com/office/officeart/2005/8/layout/vList3"/>
    <dgm:cxn modelId="{0394C6C3-5678-4E81-A24A-18D1790CB979}" type="presParOf" srcId="{30C210F8-760F-49C1-BE26-B32D94A0C028}" destId="{62E539A8-B7D8-46F9-873A-D1727858E44A}" srcOrd="3" destOrd="0" presId="urn:microsoft.com/office/officeart/2005/8/layout/vList3"/>
    <dgm:cxn modelId="{5247B7CE-66BF-4126-8BE2-4C0E7D0E16DD}" type="presParOf" srcId="{30C210F8-760F-49C1-BE26-B32D94A0C028}" destId="{5731C091-CBDB-423A-82F1-F85A614C9611}" srcOrd="4" destOrd="0" presId="urn:microsoft.com/office/officeart/2005/8/layout/vList3"/>
    <dgm:cxn modelId="{26749A5F-5F8C-43BF-9662-D5F1E3B1E05D}" type="presParOf" srcId="{5731C091-CBDB-423A-82F1-F85A614C9611}" destId="{FDED1DBD-52B2-416D-9010-4BB8560E08CF}" srcOrd="0" destOrd="0" presId="urn:microsoft.com/office/officeart/2005/8/layout/vList3"/>
    <dgm:cxn modelId="{E399EDD4-6A37-4C96-BC62-82DF6D0CCB90}" type="presParOf" srcId="{5731C091-CBDB-423A-82F1-F85A614C9611}" destId="{AFF85E42-7E69-4F5D-B66F-FC826A941582}" srcOrd="1" destOrd="0" presId="urn:microsoft.com/office/officeart/2005/8/layout/vList3"/>
    <dgm:cxn modelId="{BF2A800F-C5F7-4D6C-B7BB-7839734438CC}" type="presParOf" srcId="{30C210F8-760F-49C1-BE26-B32D94A0C028}" destId="{83E4524D-AAAC-4BC5-8226-1349E4D5A390}" srcOrd="5" destOrd="0" presId="urn:microsoft.com/office/officeart/2005/8/layout/vList3"/>
    <dgm:cxn modelId="{4530705F-AEAE-4018-AE8F-8BE3AD7CCF9D}" type="presParOf" srcId="{30C210F8-760F-49C1-BE26-B32D94A0C028}" destId="{CFD5C3D4-C116-48ED-B884-2D67D0E714CF}" srcOrd="6" destOrd="0" presId="urn:microsoft.com/office/officeart/2005/8/layout/vList3"/>
    <dgm:cxn modelId="{C2BE76ED-52EB-46C9-8BC5-4564A5D5535A}" type="presParOf" srcId="{CFD5C3D4-C116-48ED-B884-2D67D0E714CF}" destId="{ECE39436-1C78-441D-86CF-1F581FD6608F}" srcOrd="0" destOrd="0" presId="urn:microsoft.com/office/officeart/2005/8/layout/vList3"/>
    <dgm:cxn modelId="{8C9E834D-F8C6-4260-A10C-717F85515CF2}" type="presParOf" srcId="{CFD5C3D4-C116-48ED-B884-2D67D0E714CF}" destId="{0C4462A7-56FB-45F8-9C0A-69C99489EECD}" srcOrd="1" destOrd="0" presId="urn:microsoft.com/office/officeart/2005/8/layout/vList3"/>
    <dgm:cxn modelId="{23AA192F-C52B-43B4-8D3F-95653A23F907}" type="presParOf" srcId="{30C210F8-760F-49C1-BE26-B32D94A0C028}" destId="{B24FD11B-B132-4A7C-8585-927481A42383}" srcOrd="7" destOrd="0" presId="urn:microsoft.com/office/officeart/2005/8/layout/vList3"/>
    <dgm:cxn modelId="{62D04A1A-1592-4ED3-8F12-85C571A9FBBD}" type="presParOf" srcId="{30C210F8-760F-49C1-BE26-B32D94A0C028}" destId="{CC4D82B8-7898-4927-A31D-506D4F6D9A0F}" srcOrd="8" destOrd="0" presId="urn:microsoft.com/office/officeart/2005/8/layout/vList3"/>
    <dgm:cxn modelId="{B195FC3F-9D7D-4587-AA3E-C6B2D06C3A20}" type="presParOf" srcId="{CC4D82B8-7898-4927-A31D-506D4F6D9A0F}" destId="{B08A9433-5285-4720-B615-CAF858ED36C4}" srcOrd="0" destOrd="0" presId="urn:microsoft.com/office/officeart/2005/8/layout/vList3"/>
    <dgm:cxn modelId="{BE8FCF9A-AEFE-4E72-A0E1-6CC72E6A741C}" type="presParOf" srcId="{CC4D82B8-7898-4927-A31D-506D4F6D9A0F}" destId="{743B3C46-0C26-4FEC-961B-8B20D41C701A}" srcOrd="1" destOrd="0" presId="urn:microsoft.com/office/officeart/2005/8/layout/vList3"/>
    <dgm:cxn modelId="{223EAD06-85BD-42A3-A2A3-3492A97D9D77}" type="presParOf" srcId="{30C210F8-760F-49C1-BE26-B32D94A0C028}" destId="{912BC5ED-C78B-4F1C-87D2-D007DB30ECC9}" srcOrd="9" destOrd="0" presId="urn:microsoft.com/office/officeart/2005/8/layout/vList3"/>
    <dgm:cxn modelId="{4D12A6BC-9EF1-4C6C-8E29-31B8243BC8FE}" type="presParOf" srcId="{30C210F8-760F-49C1-BE26-B32D94A0C028}" destId="{CC6C40B0-6583-4C16-88E7-7729FF0AAF2C}" srcOrd="10" destOrd="0" presId="urn:microsoft.com/office/officeart/2005/8/layout/vList3"/>
    <dgm:cxn modelId="{F3EF1A80-B341-4628-B651-F78DD254594D}" type="presParOf" srcId="{CC6C40B0-6583-4C16-88E7-7729FF0AAF2C}" destId="{086BA629-2BF0-4A84-B153-92201BCD313C}" srcOrd="0" destOrd="0" presId="urn:microsoft.com/office/officeart/2005/8/layout/vList3"/>
    <dgm:cxn modelId="{19A3D40B-2689-47B7-99AC-D66FCE5C856B}" type="presParOf" srcId="{CC6C40B0-6583-4C16-88E7-7729FF0AAF2C}" destId="{D16504D1-A23F-4C5A-A1D0-466C94D2EDA4}" srcOrd="1" destOrd="0" presId="urn:microsoft.com/office/officeart/2005/8/layout/vList3"/>
    <dgm:cxn modelId="{5745B63F-9F91-47FD-B3E1-A47EB37EB0DD}" type="presParOf" srcId="{30C210F8-760F-49C1-BE26-B32D94A0C028}" destId="{2EAE48B6-0858-4A27-B63A-AE53B3DEE915}" srcOrd="11" destOrd="0" presId="urn:microsoft.com/office/officeart/2005/8/layout/vList3"/>
    <dgm:cxn modelId="{B97BED53-67C9-4E91-A872-4DF86B64F98C}" type="presParOf" srcId="{30C210F8-760F-49C1-BE26-B32D94A0C028}" destId="{19BF9BF7-1777-4F0E-8417-6939824BD5D2}" srcOrd="12" destOrd="0" presId="urn:microsoft.com/office/officeart/2005/8/layout/vList3"/>
    <dgm:cxn modelId="{F3CA947D-F58A-4261-B71F-37C05AC6A02A}" type="presParOf" srcId="{19BF9BF7-1777-4F0E-8417-6939824BD5D2}" destId="{B72D7E5A-996F-49CA-810A-7BF6D29117FD}" srcOrd="0" destOrd="0" presId="urn:microsoft.com/office/officeart/2005/8/layout/vList3"/>
    <dgm:cxn modelId="{CC2CAC9C-BA8F-4A74-8E90-2E0F533A7CD5}" type="presParOf" srcId="{19BF9BF7-1777-4F0E-8417-6939824BD5D2}" destId="{0A99533D-FACC-4C07-966D-CE79E6CDFA30}" srcOrd="1" destOrd="0" presId="urn:microsoft.com/office/officeart/2005/8/layout/vList3"/>
    <dgm:cxn modelId="{11735B3A-E5E6-4067-A66A-3495A06B2F60}" type="presParOf" srcId="{30C210F8-760F-49C1-BE26-B32D94A0C028}" destId="{0E5EB349-48CF-40A1-9452-1C5AE27D50EA}" srcOrd="13" destOrd="0" presId="urn:microsoft.com/office/officeart/2005/8/layout/vList3"/>
    <dgm:cxn modelId="{F5580399-C513-4732-8540-34A2660E3A85}" type="presParOf" srcId="{30C210F8-760F-49C1-BE26-B32D94A0C028}" destId="{D4559740-4AFF-40A9-9EED-5A21D55D0D0B}" srcOrd="14" destOrd="0" presId="urn:microsoft.com/office/officeart/2005/8/layout/vList3"/>
    <dgm:cxn modelId="{BBBEDBD2-71C7-4BC9-91D2-A1BD6E4818F9}" type="presParOf" srcId="{D4559740-4AFF-40A9-9EED-5A21D55D0D0B}" destId="{B0C55E17-BCBD-4C77-A364-5E7D2A747350}" srcOrd="0" destOrd="0" presId="urn:microsoft.com/office/officeart/2005/8/layout/vList3"/>
    <dgm:cxn modelId="{7181A7E0-FC4A-462E-A343-D1DB4592C22D}" type="presParOf" srcId="{D4559740-4AFF-40A9-9EED-5A21D55D0D0B}" destId="{8CE50B58-C082-4320-8820-3FF77D0B1AFE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C11761-8D47-47D9-B94D-6459ED93DF4F}">
      <dsp:nvSpPr>
        <dsp:cNvPr id="0" name=""/>
        <dsp:cNvSpPr/>
      </dsp:nvSpPr>
      <dsp:spPr>
        <a:xfrm>
          <a:off x="3059" y="212896"/>
          <a:ext cx="1439913" cy="555806"/>
        </a:xfrm>
        <a:prstGeom prst="chevron">
          <a:avLst>
            <a:gd name="adj" fmla="val 4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BB2D3-50BC-4664-85CD-341FC01D56A5}">
      <dsp:nvSpPr>
        <dsp:cNvPr id="0" name=""/>
        <dsp:cNvSpPr/>
      </dsp:nvSpPr>
      <dsp:spPr>
        <a:xfrm>
          <a:off x="387036" y="351848"/>
          <a:ext cx="1215926" cy="555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j-lt"/>
            </a:rPr>
            <a:t>User triggers “Smart Allocator” </a:t>
          </a:r>
          <a:endParaRPr lang="en-IN" sz="900" kern="1200"/>
        </a:p>
      </dsp:txBody>
      <dsp:txXfrm>
        <a:off x="403315" y="368127"/>
        <a:ext cx="1183368" cy="523248"/>
      </dsp:txXfrm>
    </dsp:sp>
    <dsp:sp modelId="{5DBBECC2-B7E2-444F-A887-1AF0C21E470E}">
      <dsp:nvSpPr>
        <dsp:cNvPr id="0" name=""/>
        <dsp:cNvSpPr/>
      </dsp:nvSpPr>
      <dsp:spPr>
        <a:xfrm>
          <a:off x="1647760" y="212896"/>
          <a:ext cx="1439913" cy="555806"/>
        </a:xfrm>
        <a:prstGeom prst="chevron">
          <a:avLst>
            <a:gd name="adj" fmla="val 40000"/>
          </a:avLst>
        </a:prstGeom>
        <a:solidFill>
          <a:schemeClr val="accent3">
            <a:hueOff val="-408537"/>
            <a:satOff val="-6531"/>
            <a:lumOff val="5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CE63A-293E-4CAC-A950-FA5DE7B0FFFD}">
      <dsp:nvSpPr>
        <dsp:cNvPr id="0" name=""/>
        <dsp:cNvSpPr/>
      </dsp:nvSpPr>
      <dsp:spPr>
        <a:xfrm>
          <a:off x="2031737" y="351848"/>
          <a:ext cx="1215926" cy="555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-408537"/>
              <a:satOff val="-6531"/>
              <a:lumOff val="5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latin typeface="+mj-lt"/>
            </a:rPr>
            <a:t>CSP generates valid schedule </a:t>
          </a:r>
          <a:endParaRPr lang="en-IN" sz="900" kern="1200" dirty="0"/>
        </a:p>
      </dsp:txBody>
      <dsp:txXfrm>
        <a:off x="2048016" y="368127"/>
        <a:ext cx="1183368" cy="523248"/>
      </dsp:txXfrm>
    </dsp:sp>
    <dsp:sp modelId="{3DFCC206-904C-4780-B79E-72D54B7975AC}">
      <dsp:nvSpPr>
        <dsp:cNvPr id="0" name=""/>
        <dsp:cNvSpPr/>
      </dsp:nvSpPr>
      <dsp:spPr>
        <a:xfrm>
          <a:off x="3292461" y="212896"/>
          <a:ext cx="1439913" cy="555806"/>
        </a:xfrm>
        <a:prstGeom prst="chevron">
          <a:avLst>
            <a:gd name="adj" fmla="val 40000"/>
          </a:avLst>
        </a:prstGeom>
        <a:solidFill>
          <a:schemeClr val="accent3">
            <a:hueOff val="-817075"/>
            <a:satOff val="-13062"/>
            <a:lumOff val="104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8B8BA2-7ABF-49BD-9EAC-223F44A4E660}">
      <dsp:nvSpPr>
        <dsp:cNvPr id="0" name=""/>
        <dsp:cNvSpPr/>
      </dsp:nvSpPr>
      <dsp:spPr>
        <a:xfrm>
          <a:off x="3676438" y="351848"/>
          <a:ext cx="1215926" cy="555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-817075"/>
              <a:satOff val="-13062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j-lt"/>
            </a:rPr>
            <a:t>Simulated Annealing optimizes soft constraints </a:t>
          </a:r>
          <a:endParaRPr lang="en-IN" sz="900" kern="1200"/>
        </a:p>
      </dsp:txBody>
      <dsp:txXfrm>
        <a:off x="3692717" y="368127"/>
        <a:ext cx="1183368" cy="523248"/>
      </dsp:txXfrm>
    </dsp:sp>
    <dsp:sp modelId="{DAD313B6-83B1-4022-AA98-4A974F19E0FE}">
      <dsp:nvSpPr>
        <dsp:cNvPr id="0" name=""/>
        <dsp:cNvSpPr/>
      </dsp:nvSpPr>
      <dsp:spPr>
        <a:xfrm>
          <a:off x="4937162" y="212896"/>
          <a:ext cx="1439913" cy="555806"/>
        </a:xfrm>
        <a:prstGeom prst="chevron">
          <a:avLst>
            <a:gd name="adj" fmla="val 40000"/>
          </a:avLst>
        </a:prstGeom>
        <a:solidFill>
          <a:schemeClr val="accent3">
            <a:hueOff val="-1225612"/>
            <a:satOff val="-19593"/>
            <a:lumOff val="156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1016E-0529-428E-8138-962FF6474F8C}">
      <dsp:nvSpPr>
        <dsp:cNvPr id="0" name=""/>
        <dsp:cNvSpPr/>
      </dsp:nvSpPr>
      <dsp:spPr>
        <a:xfrm>
          <a:off x="5321139" y="351848"/>
          <a:ext cx="1215926" cy="55580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-1225612"/>
              <a:satOff val="-19593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latin typeface="+mj-lt"/>
            </a:rPr>
            <a:t>Results displayed with live statistics and conflict check</a:t>
          </a:r>
          <a:endParaRPr lang="en-IN" sz="900" kern="1200"/>
        </a:p>
      </dsp:txBody>
      <dsp:txXfrm>
        <a:off x="5337418" y="368127"/>
        <a:ext cx="1183368" cy="5232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BA210-C1D0-4089-B1DF-3E845E2C28C0}">
      <dsp:nvSpPr>
        <dsp:cNvPr id="0" name=""/>
        <dsp:cNvSpPr/>
      </dsp:nvSpPr>
      <dsp:spPr>
        <a:xfrm rot="10800000">
          <a:off x="1812660" y="3020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Dashboard Overview</a:t>
          </a:r>
          <a:r>
            <a:rPr lang="en-US" sz="1500" kern="1200" dirty="0"/>
            <a:t> – Summary statistics and system status</a:t>
          </a:r>
          <a:endParaRPr lang="en-IN" sz="1500" kern="1200" dirty="0"/>
        </a:p>
      </dsp:txBody>
      <dsp:txXfrm rot="10800000">
        <a:off x="1922222" y="3020"/>
        <a:ext cx="6651991" cy="438248"/>
      </dsp:txXfrm>
    </dsp:sp>
    <dsp:sp modelId="{D5EB3DBD-7A2E-4330-AE1D-396EC72586F2}">
      <dsp:nvSpPr>
        <dsp:cNvPr id="0" name=""/>
        <dsp:cNvSpPr/>
      </dsp:nvSpPr>
      <dsp:spPr>
        <a:xfrm>
          <a:off x="1593535" y="3020"/>
          <a:ext cx="438248" cy="438248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89B6DEE-A035-4021-BB13-FABA4D5E4540}">
      <dsp:nvSpPr>
        <dsp:cNvPr id="0" name=""/>
        <dsp:cNvSpPr/>
      </dsp:nvSpPr>
      <dsp:spPr>
        <a:xfrm rot="10800000">
          <a:off x="1812660" y="572088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Weekly Class Timetable</a:t>
          </a:r>
          <a:r>
            <a:rPr lang="en-US" sz="1500" kern="1200"/>
            <a:t> – Interactive day-wise and period-wise grid</a:t>
          </a:r>
          <a:endParaRPr lang="en-IN" sz="1500" kern="1200"/>
        </a:p>
      </dsp:txBody>
      <dsp:txXfrm rot="10800000">
        <a:off x="1922222" y="572088"/>
        <a:ext cx="6651991" cy="438248"/>
      </dsp:txXfrm>
    </dsp:sp>
    <dsp:sp modelId="{2ED03B8E-4C6A-49EA-B758-9821722DCA43}">
      <dsp:nvSpPr>
        <dsp:cNvPr id="0" name=""/>
        <dsp:cNvSpPr/>
      </dsp:nvSpPr>
      <dsp:spPr>
        <a:xfrm>
          <a:off x="1593535" y="572088"/>
          <a:ext cx="438248" cy="438248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FF85E42-7E69-4F5D-B66F-FC826A941582}">
      <dsp:nvSpPr>
        <dsp:cNvPr id="0" name=""/>
        <dsp:cNvSpPr/>
      </dsp:nvSpPr>
      <dsp:spPr>
        <a:xfrm rot="10800000">
          <a:off x="1812660" y="1141157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Multi-Stage Exam Scheduler</a:t>
          </a:r>
          <a:r>
            <a:rPr lang="en-US" sz="1500" kern="1200" dirty="0"/>
            <a:t> – CT-1, CT-2, Practical, and End-Semester Theory</a:t>
          </a:r>
          <a:endParaRPr lang="en-IN" sz="1500" kern="1200" dirty="0"/>
        </a:p>
      </dsp:txBody>
      <dsp:txXfrm rot="10800000">
        <a:off x="1922222" y="1141157"/>
        <a:ext cx="6651991" cy="438248"/>
      </dsp:txXfrm>
    </dsp:sp>
    <dsp:sp modelId="{FDED1DBD-52B2-416D-9010-4BB8560E08CF}">
      <dsp:nvSpPr>
        <dsp:cNvPr id="0" name=""/>
        <dsp:cNvSpPr/>
      </dsp:nvSpPr>
      <dsp:spPr>
        <a:xfrm>
          <a:off x="1593535" y="1141157"/>
          <a:ext cx="438248" cy="438248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C4462A7-56FB-45F8-9C0A-69C99489EECD}">
      <dsp:nvSpPr>
        <dsp:cNvPr id="0" name=""/>
        <dsp:cNvSpPr/>
      </dsp:nvSpPr>
      <dsp:spPr>
        <a:xfrm rot="10800000">
          <a:off x="1812660" y="1710226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Rooms &amp; Free Room Tracker</a:t>
          </a:r>
          <a:r>
            <a:rPr lang="en-US" sz="1500" kern="1200"/>
            <a:t> – Room utilization and availability</a:t>
          </a:r>
          <a:endParaRPr lang="en-IN" sz="1500" kern="1200"/>
        </a:p>
      </dsp:txBody>
      <dsp:txXfrm rot="10800000">
        <a:off x="1922222" y="1710226"/>
        <a:ext cx="6651991" cy="438248"/>
      </dsp:txXfrm>
    </dsp:sp>
    <dsp:sp modelId="{ECE39436-1C78-441D-86CF-1F581FD6608F}">
      <dsp:nvSpPr>
        <dsp:cNvPr id="0" name=""/>
        <dsp:cNvSpPr/>
      </dsp:nvSpPr>
      <dsp:spPr>
        <a:xfrm>
          <a:off x="1593535" y="1710226"/>
          <a:ext cx="438248" cy="438248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43B3C46-0C26-4FEC-961B-8B20D41C701A}">
      <dsp:nvSpPr>
        <dsp:cNvPr id="0" name=""/>
        <dsp:cNvSpPr/>
      </dsp:nvSpPr>
      <dsp:spPr>
        <a:xfrm rot="10800000">
          <a:off x="1812660" y="2279295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Faculty Directory</a:t>
          </a:r>
          <a:r>
            <a:rPr lang="en-US" sz="1500" kern="1200"/>
            <a:t> – Faculty profiles and teaching workload</a:t>
          </a:r>
          <a:endParaRPr lang="en-IN" sz="1500" kern="1200"/>
        </a:p>
      </dsp:txBody>
      <dsp:txXfrm rot="10800000">
        <a:off x="1922222" y="2279295"/>
        <a:ext cx="6651991" cy="438248"/>
      </dsp:txXfrm>
    </dsp:sp>
    <dsp:sp modelId="{B08A9433-5285-4720-B615-CAF858ED36C4}">
      <dsp:nvSpPr>
        <dsp:cNvPr id="0" name=""/>
        <dsp:cNvSpPr/>
      </dsp:nvSpPr>
      <dsp:spPr>
        <a:xfrm>
          <a:off x="1593535" y="2279295"/>
          <a:ext cx="438248" cy="438248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6504D1-A23F-4C5A-A1D0-466C94D2EDA4}">
      <dsp:nvSpPr>
        <dsp:cNvPr id="0" name=""/>
        <dsp:cNvSpPr/>
      </dsp:nvSpPr>
      <dsp:spPr>
        <a:xfrm rot="10800000">
          <a:off x="1812660" y="2848363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Personalized Student Timetable</a:t>
          </a:r>
          <a:r>
            <a:rPr lang="en-US" sz="1500" kern="1200"/>
            <a:t> – Individual student view with CSV export</a:t>
          </a:r>
          <a:endParaRPr lang="en-IN" sz="1500" kern="1200"/>
        </a:p>
      </dsp:txBody>
      <dsp:txXfrm rot="10800000">
        <a:off x="1922222" y="2848363"/>
        <a:ext cx="6651991" cy="438248"/>
      </dsp:txXfrm>
    </dsp:sp>
    <dsp:sp modelId="{086BA629-2BF0-4A84-B153-92201BCD313C}">
      <dsp:nvSpPr>
        <dsp:cNvPr id="0" name=""/>
        <dsp:cNvSpPr/>
      </dsp:nvSpPr>
      <dsp:spPr>
        <a:xfrm>
          <a:off x="1593535" y="2848363"/>
          <a:ext cx="438248" cy="438248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A99533D-FACC-4C07-966D-CE79E6CDFA30}">
      <dsp:nvSpPr>
        <dsp:cNvPr id="0" name=""/>
        <dsp:cNvSpPr/>
      </dsp:nvSpPr>
      <dsp:spPr>
        <a:xfrm rot="10800000">
          <a:off x="1812660" y="3417432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Smart Allocator</a:t>
          </a:r>
          <a:r>
            <a:rPr lang="en-US" sz="1500" kern="1200"/>
            <a:t> – Live CSP + Simulated Annealing solver</a:t>
          </a:r>
          <a:endParaRPr lang="en-IN" sz="1500" kern="1200"/>
        </a:p>
      </dsp:txBody>
      <dsp:txXfrm rot="10800000">
        <a:off x="1922222" y="3417432"/>
        <a:ext cx="6651991" cy="438248"/>
      </dsp:txXfrm>
    </dsp:sp>
    <dsp:sp modelId="{B72D7E5A-996F-49CA-810A-7BF6D29117FD}">
      <dsp:nvSpPr>
        <dsp:cNvPr id="0" name=""/>
        <dsp:cNvSpPr/>
      </dsp:nvSpPr>
      <dsp:spPr>
        <a:xfrm>
          <a:off x="1593535" y="3417432"/>
          <a:ext cx="438248" cy="438248"/>
        </a:xfrm>
        <a:prstGeom prst="ellipse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CE50B58-C082-4320-8820-3FF77D0B1AFE}">
      <dsp:nvSpPr>
        <dsp:cNvPr id="0" name=""/>
        <dsp:cNvSpPr/>
      </dsp:nvSpPr>
      <dsp:spPr>
        <a:xfrm rot="10800000">
          <a:off x="1812660" y="3986501"/>
          <a:ext cx="6761553" cy="438248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3255" tIns="57150" rIns="10668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Conflict Resolver</a:t>
          </a:r>
          <a:r>
            <a:rPr lang="en-US" sz="1500" kern="1200"/>
            <a:t> – Independent final conflict verification</a:t>
          </a:r>
          <a:endParaRPr lang="en-IN" sz="1500" kern="1200"/>
        </a:p>
      </dsp:txBody>
      <dsp:txXfrm rot="10800000">
        <a:off x="1922222" y="3986501"/>
        <a:ext cx="6651991" cy="438248"/>
      </dsp:txXfrm>
    </dsp:sp>
    <dsp:sp modelId="{B0C55E17-BCBD-4C77-A364-5E7D2A747350}">
      <dsp:nvSpPr>
        <dsp:cNvPr id="0" name=""/>
        <dsp:cNvSpPr/>
      </dsp:nvSpPr>
      <dsp:spPr>
        <a:xfrm>
          <a:off x="1593535" y="3986501"/>
          <a:ext cx="438248" cy="438248"/>
        </a:xfrm>
        <a:prstGeom prst="ellipse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7176D-F3C6-408A-8D66-5E6719E248E5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663CC-0516-4847-954A-8191D28C2F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43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10/4/2026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8.sv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C4D3-1E4A-198C-B77F-E1BAFDEB6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9" y="2026762"/>
            <a:ext cx="10058400" cy="2156947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FOUNDATIONS OF ARTIFICIAL INTELLIGENCE</a:t>
            </a:r>
            <a:endParaRPr lang="en-IN" sz="60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C8B320-5898-F86A-5261-8FDECC17F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9700" y="4380206"/>
            <a:ext cx="9973559" cy="1143000"/>
          </a:xfrm>
        </p:spPr>
        <p:txBody>
          <a:bodyPr>
            <a:normAutofit/>
          </a:bodyPr>
          <a:lstStyle/>
          <a:p>
            <a:pPr algn="ctr"/>
            <a:r>
              <a:rPr lang="en-US" sz="2500" dirty="0">
                <a:solidFill>
                  <a:schemeClr val="tx1"/>
                </a:solidFill>
              </a:rPr>
              <a:t>Automated university examination and class time table scheduler</a:t>
            </a:r>
            <a:endParaRPr lang="en-IN" sz="2500" dirty="0">
              <a:solidFill>
                <a:schemeClr val="tx1"/>
              </a:solidFill>
            </a:endParaRPr>
          </a:p>
        </p:txBody>
      </p:sp>
      <p:pic>
        <p:nvPicPr>
          <p:cNvPr id="5" name="Google Shape;107;p13">
            <a:extLst>
              <a:ext uri="{FF2B5EF4-FFF2-40B4-BE49-F238E27FC236}">
                <a16:creationId xmlns:a16="http://schemas.microsoft.com/office/drawing/2014/main" id="{EA64328D-2EF3-ACEE-64CE-5FFC27B227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4278" y="358866"/>
            <a:ext cx="5232378" cy="138655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8F4C9E-B05E-6347-7C8D-438B07F8EE4A}"/>
              </a:ext>
            </a:extLst>
          </p:cNvPr>
          <p:cNvSpPr txBox="1"/>
          <p:nvPr/>
        </p:nvSpPr>
        <p:spPr>
          <a:xfrm>
            <a:off x="552317" y="5603338"/>
            <a:ext cx="4956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Team member 1: Santhosh G 240701473</a:t>
            </a:r>
          </a:p>
          <a:p>
            <a:r>
              <a:rPr lang="en-US" sz="2000" dirty="0">
                <a:latin typeface="+mj-lt"/>
              </a:rPr>
              <a:t>Team member 2: Rohith D 240701435</a:t>
            </a:r>
            <a:endParaRPr lang="en-IN" sz="2000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F3B9E2-A17E-77DA-9898-251DCFCF3E41}"/>
              </a:ext>
            </a:extLst>
          </p:cNvPr>
          <p:cNvSpPr txBox="1"/>
          <p:nvPr/>
        </p:nvSpPr>
        <p:spPr>
          <a:xfrm>
            <a:off x="8804635" y="5601430"/>
            <a:ext cx="27432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Mentor: Mrs. Deepa</a:t>
            </a:r>
            <a:endParaRPr lang="en-I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5020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C964BA-4995-5579-F263-1E62B10986AB}"/>
              </a:ext>
            </a:extLst>
          </p:cNvPr>
          <p:cNvSpPr/>
          <p:nvPr/>
        </p:nvSpPr>
        <p:spPr>
          <a:xfrm>
            <a:off x="503706" y="2005990"/>
            <a:ext cx="11137455" cy="4023360"/>
          </a:xfrm>
          <a:prstGeom prst="roundRect">
            <a:avLst/>
          </a:prstGeom>
          <a:solidFill>
            <a:srgbClr val="0099CC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12EF99-9255-AA1A-D231-F3284D68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Abstract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9C989-2337-9DF1-7CF7-861D2208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2694" y="2189779"/>
            <a:ext cx="10058400" cy="4023360"/>
          </a:xfrm>
        </p:spPr>
        <p:txBody>
          <a:bodyPr/>
          <a:lstStyle/>
          <a:p>
            <a:pPr algn="just"/>
            <a:r>
              <a:rPr lang="en-US" dirty="0">
                <a:latin typeface="+mj-lt"/>
              </a:rPr>
              <a:t>Manual preparation of college class and examination timetables is time-consuming and often leads to student clashes, room double-booking, and uneven distribution of exams.</a:t>
            </a:r>
          </a:p>
          <a:p>
            <a:pPr algn="just"/>
            <a:r>
              <a:rPr lang="en-US" dirty="0">
                <a:latin typeface="+mj-lt"/>
              </a:rPr>
              <a:t>This project presents </a:t>
            </a:r>
            <a:r>
              <a:rPr lang="en-US" b="1" dirty="0" err="1">
                <a:latin typeface="+mj-lt"/>
              </a:rPr>
              <a:t>AeroChronos</a:t>
            </a:r>
            <a:r>
              <a:rPr lang="en-US" dirty="0">
                <a:latin typeface="+mj-lt"/>
              </a:rPr>
              <a:t>, an intelligent timetable scheduling system that uses </a:t>
            </a:r>
            <a:r>
              <a:rPr lang="en-US" b="1" dirty="0">
                <a:latin typeface="+mj-lt"/>
              </a:rPr>
              <a:t>Constraint Satisfaction Problem (CSP)</a:t>
            </a:r>
            <a:r>
              <a:rPr lang="en-US" dirty="0">
                <a:latin typeface="+mj-lt"/>
              </a:rPr>
              <a:t> techniques (Backtracking, MRV heuristic, and Forward Checking) to generate clash-free schedules, and </a:t>
            </a:r>
            <a:r>
              <a:rPr lang="en-US" b="1" dirty="0">
                <a:latin typeface="+mj-lt"/>
              </a:rPr>
              <a:t>Simulated Annealing</a:t>
            </a:r>
            <a:r>
              <a:rPr lang="en-US" dirty="0">
                <a:latin typeface="+mj-lt"/>
              </a:rPr>
              <a:t> to optimize soft constraints such as reducing back-to-back exams.</a:t>
            </a:r>
          </a:p>
          <a:p>
            <a:pPr algn="just"/>
            <a:r>
              <a:rPr lang="en-US" dirty="0">
                <a:latin typeface="+mj-lt"/>
              </a:rPr>
              <a:t>The system supports multi-stage exams (CT-1, CT-2, Practical, and End-Semester), provides personalized student timetables, real-time solver statistics, and a modern Angular-based graphical interface with optional </a:t>
            </a:r>
            <a:r>
              <a:rPr lang="en-US" dirty="0" err="1">
                <a:latin typeface="+mj-lt"/>
              </a:rPr>
              <a:t>Supabase</a:t>
            </a:r>
            <a:r>
              <a:rPr lang="en-US" dirty="0">
                <a:latin typeface="+mj-lt"/>
              </a:rPr>
              <a:t> cloud storage.</a:t>
            </a:r>
          </a:p>
          <a:p>
            <a:pPr algn="just"/>
            <a:r>
              <a:rPr lang="en-US" dirty="0">
                <a:latin typeface="+mj-lt"/>
              </a:rPr>
              <a:t>The result is a transparent, automated, and academically aligned solution that demonstrates practical application of AI search and optimization techniques.</a:t>
            </a:r>
          </a:p>
          <a:p>
            <a:pPr algn="just"/>
            <a:endParaRPr lang="en-IN" dirty="0">
              <a:latin typeface="+mj-lt"/>
            </a:endParaRPr>
          </a:p>
        </p:txBody>
      </p:sp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72CBF1F3-00C3-24DE-1642-6DB2879D3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140" y="1737360"/>
            <a:ext cx="1052974" cy="105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30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7872CF-539F-9B0B-4129-B8BC9BC23324}"/>
              </a:ext>
            </a:extLst>
          </p:cNvPr>
          <p:cNvSpPr/>
          <p:nvPr/>
        </p:nvSpPr>
        <p:spPr>
          <a:xfrm>
            <a:off x="669303" y="1845734"/>
            <a:ext cx="10486377" cy="3810348"/>
          </a:xfrm>
          <a:prstGeom prst="roundRect">
            <a:avLst/>
          </a:prstGeom>
          <a:solidFill>
            <a:srgbClr val="0099CC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5720" rtlCol="0" anchor="ctr"/>
          <a:lstStyle/>
          <a:p>
            <a:pPr algn="ctr">
              <a:lnSpc>
                <a:spcPct val="150000"/>
              </a:lnSpc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80F512-CFD1-6F14-5154-91A370CB1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Literature Survey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E837C-0E13-9574-3EF5-B7DED66B4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627" y="1980196"/>
            <a:ext cx="8885706" cy="3553338"/>
          </a:xfrm>
        </p:spPr>
        <p:txBody>
          <a:bodyPr>
            <a:noAutofit/>
          </a:bodyPr>
          <a:lstStyle/>
          <a:p>
            <a:pPr algn="just"/>
            <a:r>
              <a:rPr lang="en-US" dirty="0">
                <a:latin typeface="+mj-lt"/>
              </a:rPr>
              <a:t>Traditional college ERP systems (e.g., VTOP and similar portals) mainly display pre-prepared timetables and offer limited automated conflict resolution.</a:t>
            </a:r>
          </a:p>
          <a:p>
            <a:pPr algn="just"/>
            <a:r>
              <a:rPr lang="en-US" dirty="0">
                <a:latin typeface="+mj-lt"/>
              </a:rPr>
              <a:t>Early scheduling systems relied on manual rules or simple heuristics, which struggle with large numbers of constraints.</a:t>
            </a:r>
          </a:p>
          <a:p>
            <a:pPr algn="just"/>
            <a:r>
              <a:rPr lang="en-US" dirty="0">
                <a:latin typeface="+mj-lt"/>
              </a:rPr>
              <a:t>Constraint Satisfaction Problem (CSP) has been widely applied in educational timetabling for handling hard constraints such as student and room conflicts.</a:t>
            </a:r>
          </a:p>
          <a:p>
            <a:pPr algn="just"/>
            <a:r>
              <a:rPr lang="en-US" dirty="0">
                <a:latin typeface="+mj-lt"/>
              </a:rPr>
              <a:t>Local search techniques, particularly Simulated Annealing, have shown good results in optimizing soft constraints like exam spreading and minimizing consecutive exams.</a:t>
            </a:r>
          </a:p>
          <a:p>
            <a:pPr algn="just"/>
            <a:r>
              <a:rPr lang="en-US" dirty="0">
                <a:latin typeface="+mj-lt"/>
              </a:rPr>
              <a:t>Most existing solutions are black-box systems with little transparency about how the final schedule was generated and limited support for multi-stage examinations.</a:t>
            </a:r>
          </a:p>
          <a:p>
            <a:pPr algn="just"/>
            <a:endParaRPr lang="en-IN" dirty="0">
              <a:latin typeface="+mj-lt"/>
            </a:endParaRPr>
          </a:p>
        </p:txBody>
      </p:sp>
      <p:pic>
        <p:nvPicPr>
          <p:cNvPr id="6" name="Graphic 5" descr="Schoolhouse">
            <a:extLst>
              <a:ext uri="{FF2B5EF4-FFF2-40B4-BE49-F238E27FC236}">
                <a16:creationId xmlns:a16="http://schemas.microsoft.com/office/drawing/2014/main" id="{14E0FD9E-3F5D-9FAA-3E06-EAF1B3515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3684" y="1980196"/>
            <a:ext cx="640080" cy="640080"/>
          </a:xfrm>
          <a:prstGeom prst="rect">
            <a:avLst/>
          </a:prstGeom>
        </p:spPr>
      </p:pic>
      <p:pic>
        <p:nvPicPr>
          <p:cNvPr id="8" name="Graphic 7" descr="Gears">
            <a:extLst>
              <a:ext uri="{FF2B5EF4-FFF2-40B4-BE49-F238E27FC236}">
                <a16:creationId xmlns:a16="http://schemas.microsoft.com/office/drawing/2014/main" id="{D356F713-DDCB-A3F8-A9CF-CA9B39BEE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28260">
            <a:off x="973684" y="2694993"/>
            <a:ext cx="640080" cy="640080"/>
          </a:xfrm>
          <a:prstGeom prst="rect">
            <a:avLst/>
          </a:prstGeom>
        </p:spPr>
      </p:pic>
      <p:pic>
        <p:nvPicPr>
          <p:cNvPr id="10" name="Graphic 9" descr="Puzzle">
            <a:extLst>
              <a:ext uri="{FF2B5EF4-FFF2-40B4-BE49-F238E27FC236}">
                <a16:creationId xmlns:a16="http://schemas.microsoft.com/office/drawing/2014/main" id="{3122CB2D-F646-EBAA-E7CD-9A4D2C6904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2022" y="3506997"/>
            <a:ext cx="548640" cy="548640"/>
          </a:xfrm>
          <a:prstGeom prst="rect">
            <a:avLst/>
          </a:prstGeom>
        </p:spPr>
      </p:pic>
      <p:pic>
        <p:nvPicPr>
          <p:cNvPr id="12" name="Graphic 11" descr="Bar chart">
            <a:extLst>
              <a:ext uri="{FF2B5EF4-FFF2-40B4-BE49-F238E27FC236}">
                <a16:creationId xmlns:a16="http://schemas.microsoft.com/office/drawing/2014/main" id="{DF3E95C8-4981-EEA9-751E-C6C4E509CE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6319" y="4244924"/>
            <a:ext cx="548640" cy="548640"/>
          </a:xfrm>
          <a:prstGeom prst="rect">
            <a:avLst/>
          </a:prstGeom>
        </p:spPr>
      </p:pic>
      <p:pic>
        <p:nvPicPr>
          <p:cNvPr id="14" name="Graphic 13" descr="Lock">
            <a:extLst>
              <a:ext uri="{FF2B5EF4-FFF2-40B4-BE49-F238E27FC236}">
                <a16:creationId xmlns:a16="http://schemas.microsoft.com/office/drawing/2014/main" id="{893F408C-762F-2F2F-2862-EBD1629FA5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9404" y="4901938"/>
            <a:ext cx="548640" cy="54864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83D11B-A155-F757-2CCC-0ED38D6EF2A0}"/>
              </a:ext>
            </a:extLst>
          </p:cNvPr>
          <p:cNvSpPr/>
          <p:nvPr/>
        </p:nvSpPr>
        <p:spPr>
          <a:xfrm>
            <a:off x="669303" y="5807476"/>
            <a:ext cx="10486377" cy="452260"/>
          </a:xfrm>
          <a:prstGeom prst="roundRect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endParaRPr lang="en-US" sz="1400" b="1" dirty="0"/>
          </a:p>
          <a:p>
            <a:pPr algn="just"/>
            <a:r>
              <a:rPr lang="en-US" sz="1400" b="1" dirty="0"/>
              <a:t>Gap Identified:</a:t>
            </a:r>
            <a:r>
              <a:rPr lang="en-US" sz="1400" dirty="0"/>
              <a:t> Need for a transparent AI-based system that combines CSP for hard constraints and Simulated Annealing for soft constraints, while providing clear solver statistics and multi-stage exam support.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186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00DA9-5DC1-E1A6-A36C-0CE0E7A8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02" y="236909"/>
            <a:ext cx="3927388" cy="112055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Architecture Diagram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0DC0-6E79-F093-B7D2-4587FA6CE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094" y="1591893"/>
            <a:ext cx="3822569" cy="5586615"/>
          </a:xfrm>
        </p:spPr>
        <p:txBody>
          <a:bodyPr lIns="91440">
            <a:normAutofit fontScale="77500" lnSpcReduction="20000"/>
          </a:bodyPr>
          <a:lstStyle/>
          <a:p>
            <a:r>
              <a:rPr lang="en-IN" sz="2200" b="1" dirty="0">
                <a:latin typeface="+mj-lt"/>
              </a:rPr>
              <a:t>Frontend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Angular 21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 (Standalone Components)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TypeScript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Tailwind CSS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 (for styling)</a:t>
            </a:r>
          </a:p>
          <a:p>
            <a:pPr lvl="1"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  <a:latin typeface="+mj-lt"/>
            </a:endParaRPr>
          </a:p>
          <a:p>
            <a:r>
              <a:rPr lang="en-IN" sz="2200" b="1" dirty="0">
                <a:latin typeface="+mj-lt"/>
              </a:rPr>
              <a:t>AI / Core Logic</a:t>
            </a:r>
            <a:endParaRPr lang="en-IN" sz="1600" dirty="0">
              <a:solidFill>
                <a:schemeClr val="bg1"/>
              </a:solidFill>
              <a:latin typeface="+mj-lt"/>
            </a:endParaRP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+mj-lt"/>
              </a:rPr>
              <a:t>Constraint Satisfaction Problem (CSP)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+mj-lt"/>
              </a:rPr>
              <a:t>Backtracking Search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+mj-lt"/>
              </a:rPr>
              <a:t>Minimum Remaining Values (MRV) Heuristic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+mj-lt"/>
              </a:rPr>
              <a:t>Forward Checking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+mj-lt"/>
              </a:rPr>
              <a:t>Simulated Annealing (Local Search / Optimization)</a:t>
            </a:r>
          </a:p>
          <a:p>
            <a:pPr lvl="2"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  <a:latin typeface="+mj-lt"/>
            </a:endParaRPr>
          </a:p>
          <a:p>
            <a:r>
              <a:rPr lang="en-IN" sz="2200" b="1" dirty="0">
                <a:latin typeface="+mj-lt"/>
              </a:rPr>
              <a:t>Backend / Database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Supabase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 (PostgreSQL database + authentication)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Offline-first support (local data fallback when Supabase is not connected)</a:t>
            </a:r>
          </a:p>
          <a:p>
            <a:pPr lvl="1"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  <a:latin typeface="+mj-lt"/>
            </a:endParaRPr>
          </a:p>
          <a:p>
            <a:pPr>
              <a:buClr>
                <a:schemeClr val="bg1"/>
              </a:buClr>
            </a:pPr>
            <a:r>
              <a:rPr lang="en-IN" sz="2200" b="1" dirty="0">
                <a:solidFill>
                  <a:schemeClr val="bg1"/>
                </a:solidFill>
                <a:latin typeface="+mj-lt"/>
              </a:rPr>
              <a:t>Tools &amp; Others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Node.js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 &amp; </a:t>
            </a:r>
            <a:r>
              <a:rPr lang="en-IN" sz="1600" b="1" dirty="0">
                <a:solidFill>
                  <a:schemeClr val="bg1"/>
                </a:solidFill>
                <a:latin typeface="+mj-lt"/>
              </a:rPr>
              <a:t>npm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 (for Angular development)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1"/>
                </a:solidFill>
                <a:latin typeface="+mj-lt"/>
              </a:rPr>
              <a:t>Visual Studio Code</a:t>
            </a:r>
            <a:r>
              <a:rPr lang="en-IN" sz="1600" dirty="0">
                <a:solidFill>
                  <a:schemeClr val="bg1"/>
                </a:solidFill>
                <a:latin typeface="+mj-lt"/>
              </a:rPr>
              <a:t> (recommended IDE)</a:t>
            </a:r>
          </a:p>
          <a:p>
            <a:pPr marL="742950" lvl="1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+mj-lt"/>
              </a:rPr>
              <a:t>CSV export functionality (for student timetables &amp; reports</a:t>
            </a:r>
            <a:r>
              <a:rPr lang="en-IN" sz="1400" dirty="0">
                <a:solidFill>
                  <a:schemeClr val="bg1"/>
                </a:solidFill>
                <a:latin typeface="+mj-lt"/>
              </a:rPr>
              <a:t>)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FEF38784-49A7-0800-A019-B29AE0EAA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95247" y="295707"/>
            <a:ext cx="7482079" cy="5586619"/>
          </a:xfrm>
          <a:prstGeom prst="rect">
            <a:avLst/>
          </a:prstGeom>
          <a:ln w="88900" cap="sq" cmpd="thickThin">
            <a:solidFill>
              <a:srgbClr val="1CADE4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552DAA0-979B-8EAC-734B-14D825508B06}"/>
              </a:ext>
            </a:extLst>
          </p:cNvPr>
          <p:cNvCxnSpPr>
            <a:cxnSpLocks/>
          </p:cNvCxnSpPr>
          <p:nvPr/>
        </p:nvCxnSpPr>
        <p:spPr>
          <a:xfrm>
            <a:off x="131412" y="1395168"/>
            <a:ext cx="382256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CA596534-A579-6830-34C4-E025936B69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785839"/>
              </p:ext>
            </p:extLst>
          </p:nvPr>
        </p:nvGraphicFramePr>
        <p:xfrm>
          <a:off x="5403635" y="5882326"/>
          <a:ext cx="6540126" cy="1120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C709E039-095D-EC12-7843-6394BF65DAC3}"/>
              </a:ext>
            </a:extLst>
          </p:cNvPr>
          <p:cNvSpPr txBox="1"/>
          <p:nvPr/>
        </p:nvSpPr>
        <p:spPr>
          <a:xfrm>
            <a:off x="4159296" y="6192961"/>
            <a:ext cx="1244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Data Flow:</a:t>
            </a:r>
            <a:endParaRPr lang="en-IN" dirty="0">
              <a:solidFill>
                <a:schemeClr val="tx2"/>
              </a:solidFill>
            </a:endParaRPr>
          </a:p>
        </p:txBody>
      </p:sp>
      <p:pic>
        <p:nvPicPr>
          <p:cNvPr id="7" name="Graphic 6" descr="Television">
            <a:extLst>
              <a:ext uri="{FF2B5EF4-FFF2-40B4-BE49-F238E27FC236}">
                <a16:creationId xmlns:a16="http://schemas.microsoft.com/office/drawing/2014/main" id="{6CD69002-B969-4BC7-E9EE-6E20BE4E0E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4082" y="1493209"/>
            <a:ext cx="315061" cy="358097"/>
          </a:xfrm>
          <a:prstGeom prst="rect">
            <a:avLst/>
          </a:prstGeom>
        </p:spPr>
      </p:pic>
      <p:pic>
        <p:nvPicPr>
          <p:cNvPr id="9" name="Graphic 8" descr="Head with gears">
            <a:extLst>
              <a:ext uri="{FF2B5EF4-FFF2-40B4-BE49-F238E27FC236}">
                <a16:creationId xmlns:a16="http://schemas.microsoft.com/office/drawing/2014/main" id="{46E6A427-2A89-2821-257B-E988BB3971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91314" y="2651288"/>
            <a:ext cx="320040" cy="320040"/>
          </a:xfrm>
          <a:prstGeom prst="rect">
            <a:avLst/>
          </a:prstGeom>
        </p:spPr>
      </p:pic>
      <p:pic>
        <p:nvPicPr>
          <p:cNvPr id="11" name="Graphic 10" descr="Database">
            <a:extLst>
              <a:ext uri="{FF2B5EF4-FFF2-40B4-BE49-F238E27FC236}">
                <a16:creationId xmlns:a16="http://schemas.microsoft.com/office/drawing/2014/main" id="{E78C78D5-8CB2-5918-1D45-7F131CC0409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82676" y="4385200"/>
            <a:ext cx="320040" cy="320040"/>
          </a:xfrm>
          <a:prstGeom prst="rect">
            <a:avLst/>
          </a:prstGeom>
        </p:spPr>
      </p:pic>
      <p:pic>
        <p:nvPicPr>
          <p:cNvPr id="13" name="Graphic 12" descr="Mining tools">
            <a:extLst>
              <a:ext uri="{FF2B5EF4-FFF2-40B4-BE49-F238E27FC236}">
                <a16:creationId xmlns:a16="http://schemas.microsoft.com/office/drawing/2014/main" id="{63094402-5AAB-DDFF-34B3-DDE8E36545D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91314" y="5562286"/>
            <a:ext cx="320040" cy="32004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7485162-6533-BDB2-56D1-B7C6D5F64AE2}"/>
              </a:ext>
            </a:extLst>
          </p:cNvPr>
          <p:cNvSpPr/>
          <p:nvPr/>
        </p:nvSpPr>
        <p:spPr>
          <a:xfrm>
            <a:off x="9179560" y="3911600"/>
            <a:ext cx="701040" cy="142240"/>
          </a:xfrm>
          <a:prstGeom prst="roundRect">
            <a:avLst/>
          </a:prstGeom>
          <a:solidFill>
            <a:srgbClr val="0469B1"/>
          </a:solidFill>
          <a:ln>
            <a:solidFill>
              <a:srgbClr val="0469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768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09AA-1FAA-A855-59ED-9A400790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Modules</a:t>
            </a:r>
            <a:endParaRPr lang="en-IN" dirty="0">
              <a:solidFill>
                <a:schemeClr val="tx2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13CF40-1238-E73F-2757-237C04C85E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6740622"/>
              </p:ext>
            </p:extLst>
          </p:nvPr>
        </p:nvGraphicFramePr>
        <p:xfrm>
          <a:off x="748490" y="1815602"/>
          <a:ext cx="10167749" cy="4427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0090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577D39A-0BE4-E0D7-8ED6-EDE9058F5361}"/>
              </a:ext>
            </a:extLst>
          </p:cNvPr>
          <p:cNvSpPr/>
          <p:nvPr/>
        </p:nvSpPr>
        <p:spPr>
          <a:xfrm>
            <a:off x="6561056" y="3697664"/>
            <a:ext cx="5158346" cy="1434792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AC5C45-3EED-8F46-A21B-AFE36A80CCB7}"/>
              </a:ext>
            </a:extLst>
          </p:cNvPr>
          <p:cNvSpPr/>
          <p:nvPr/>
        </p:nvSpPr>
        <p:spPr>
          <a:xfrm>
            <a:off x="6561056" y="1885361"/>
            <a:ext cx="5158346" cy="1543639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D8E7AC-38DB-1A07-3BD5-376B3071E7BC}"/>
              </a:ext>
            </a:extLst>
          </p:cNvPr>
          <p:cNvSpPr/>
          <p:nvPr/>
        </p:nvSpPr>
        <p:spPr>
          <a:xfrm>
            <a:off x="655478" y="3880544"/>
            <a:ext cx="5227479" cy="1251912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1F84DA-F8D5-2CFC-292C-987DD145BE09}"/>
              </a:ext>
            </a:extLst>
          </p:cNvPr>
          <p:cNvSpPr/>
          <p:nvPr/>
        </p:nvSpPr>
        <p:spPr>
          <a:xfrm>
            <a:off x="659876" y="1885361"/>
            <a:ext cx="5227479" cy="1543639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3D256-1CFE-E015-BFA2-1F24F0A2F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Key Modules Explained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295FE-B32A-80B7-4AA8-037E3AE0B3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358" y="1968285"/>
            <a:ext cx="4937760" cy="4023359"/>
          </a:xfrm>
        </p:spPr>
        <p:txBody>
          <a:bodyPr/>
          <a:lstStyle/>
          <a:p>
            <a:r>
              <a:rPr lang="en-US" b="1" dirty="0">
                <a:latin typeface="+mj-lt"/>
              </a:rPr>
              <a:t>Smart Allocator 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Runs the CSP engine followed by Simulated Annealing. Displays real-time metrics such as nodes expanded, backtracks, temperature, and objective cost.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Multi-Stage Exam Scheduler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Handles four distinct examination phases with appropriate room and batch constraints</a:t>
            </a:r>
          </a:p>
          <a:p>
            <a:endParaRPr lang="en-IN" dirty="0">
              <a:latin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F17468-0A2B-9758-6CA7-EB278E9E0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0406" y="1968284"/>
            <a:ext cx="4937760" cy="4023360"/>
          </a:xfrm>
        </p:spPr>
        <p:txBody>
          <a:bodyPr/>
          <a:lstStyle/>
          <a:p>
            <a:r>
              <a:rPr lang="en-US" b="1" dirty="0">
                <a:latin typeface="+mj-lt"/>
              </a:rPr>
              <a:t>Personalized Student Timetable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Merges class and exam schedules for any selected student and performs an additional conflict check.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Conflict Resolver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Acts as a safety layer to detect any residual clashes after the two separate solvers (class &amp; exam) have run.</a:t>
            </a:r>
          </a:p>
          <a:p>
            <a:endParaRPr lang="en-IN" dirty="0">
              <a:latin typeface="+mj-lt"/>
            </a:endParaRPr>
          </a:p>
        </p:txBody>
      </p:sp>
      <p:pic>
        <p:nvPicPr>
          <p:cNvPr id="6" name="Graphic 5" descr="Brain in head">
            <a:extLst>
              <a:ext uri="{FF2B5EF4-FFF2-40B4-BE49-F238E27FC236}">
                <a16:creationId xmlns:a16="http://schemas.microsoft.com/office/drawing/2014/main" id="{5A03B234-BE8E-CDA7-3A73-B3EE5C134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598" y="1785404"/>
            <a:ext cx="365760" cy="365760"/>
          </a:xfrm>
          <a:prstGeom prst="rect">
            <a:avLst/>
          </a:prstGeom>
        </p:spPr>
      </p:pic>
      <p:pic>
        <p:nvPicPr>
          <p:cNvPr id="8" name="Graphic 7" descr="Checklist RTL">
            <a:extLst>
              <a:ext uri="{FF2B5EF4-FFF2-40B4-BE49-F238E27FC236}">
                <a16:creationId xmlns:a16="http://schemas.microsoft.com/office/drawing/2014/main" id="{4DB5BEE9-B3C4-2C30-C263-01D203AFB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2598" y="3797084"/>
            <a:ext cx="365760" cy="365760"/>
          </a:xfrm>
          <a:prstGeom prst="rect">
            <a:avLst/>
          </a:prstGeom>
        </p:spPr>
      </p:pic>
      <p:pic>
        <p:nvPicPr>
          <p:cNvPr id="10" name="Graphic 9" descr="Professor">
            <a:extLst>
              <a:ext uri="{FF2B5EF4-FFF2-40B4-BE49-F238E27FC236}">
                <a16:creationId xmlns:a16="http://schemas.microsoft.com/office/drawing/2014/main" id="{5F77C32C-631A-3CDA-05C0-D8CBD8C5E4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76289" y="1769444"/>
            <a:ext cx="365760" cy="365760"/>
          </a:xfrm>
          <a:prstGeom prst="rect">
            <a:avLst/>
          </a:prstGeom>
        </p:spPr>
      </p:pic>
      <p:pic>
        <p:nvPicPr>
          <p:cNvPr id="12" name="Graphic 11" descr="Exclamation mark">
            <a:extLst>
              <a:ext uri="{FF2B5EF4-FFF2-40B4-BE49-F238E27FC236}">
                <a16:creationId xmlns:a16="http://schemas.microsoft.com/office/drawing/2014/main" id="{7B1BB640-4E1D-A522-B66B-BB794EFDB2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5884" y="3622217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139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AA125F-B0EF-0275-35F7-85685191A44D}"/>
              </a:ext>
            </a:extLst>
          </p:cNvPr>
          <p:cNvSpPr txBox="1"/>
          <p:nvPr/>
        </p:nvSpPr>
        <p:spPr>
          <a:xfrm>
            <a:off x="699154" y="432194"/>
            <a:ext cx="10793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j-lt"/>
              </a:rPr>
              <a:t>Output – Dashboard &amp; Time Table</a:t>
            </a:r>
            <a:endParaRPr lang="en-IN" sz="48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8E20C1-1E25-0D81-E6A4-3BFF6E283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16" y="1812984"/>
            <a:ext cx="5608784" cy="3154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12F04D-5628-A1E7-483A-8722DD1B7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117" y="1812984"/>
            <a:ext cx="5608778" cy="31549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9C45468-D391-129A-6CDF-FCCD462B145C}"/>
              </a:ext>
            </a:extLst>
          </p:cNvPr>
          <p:cNvCxnSpPr/>
          <p:nvPr/>
        </p:nvCxnSpPr>
        <p:spPr>
          <a:xfrm>
            <a:off x="699154" y="1263191"/>
            <a:ext cx="107936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DA87A4-CB60-E20B-CDA2-B233C0C8FC2E}"/>
              </a:ext>
            </a:extLst>
          </p:cNvPr>
          <p:cNvSpPr txBox="1"/>
          <p:nvPr/>
        </p:nvSpPr>
        <p:spPr>
          <a:xfrm>
            <a:off x="1951349" y="5148385"/>
            <a:ext cx="22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  <a:latin typeface="+mj-lt"/>
              </a:rPr>
              <a:t>Dashboard Overview</a:t>
            </a:r>
            <a:endParaRPr lang="en-IN" b="1" i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A42502-CA5F-80EA-9BCB-C79C70EF54C7}"/>
              </a:ext>
            </a:extLst>
          </p:cNvPr>
          <p:cNvSpPr txBox="1"/>
          <p:nvPr/>
        </p:nvSpPr>
        <p:spPr>
          <a:xfrm>
            <a:off x="8100856" y="5148383"/>
            <a:ext cx="22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  <a:latin typeface="+mj-lt"/>
              </a:rPr>
              <a:t>Weekly Time Table</a:t>
            </a:r>
            <a:endParaRPr lang="en-IN" b="1" i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142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618F15-5960-13B9-6FDD-418A66DEB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1AEBF-B62B-7E56-8EC8-0845C2A48497}"/>
              </a:ext>
            </a:extLst>
          </p:cNvPr>
          <p:cNvSpPr txBox="1"/>
          <p:nvPr/>
        </p:nvSpPr>
        <p:spPr>
          <a:xfrm>
            <a:off x="699154" y="432194"/>
            <a:ext cx="10793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j-lt"/>
              </a:rPr>
              <a:t>Output – Scheduler &amp; Tracker</a:t>
            </a:r>
            <a:endParaRPr lang="en-IN" sz="48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3E2098-DBEF-D389-2D2E-6119E7D773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8216" y="1812984"/>
            <a:ext cx="5608784" cy="3154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A30889-1C72-28FC-8249-2C8F9C2055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4117" y="1812985"/>
            <a:ext cx="5608778" cy="3154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369610-B3EF-A84B-2430-820A59A77B5E}"/>
              </a:ext>
            </a:extLst>
          </p:cNvPr>
          <p:cNvCxnSpPr/>
          <p:nvPr/>
        </p:nvCxnSpPr>
        <p:spPr>
          <a:xfrm>
            <a:off x="699154" y="1263191"/>
            <a:ext cx="107936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05AD13-02EA-15A9-650A-D900944F333A}"/>
              </a:ext>
            </a:extLst>
          </p:cNvPr>
          <p:cNvSpPr txBox="1"/>
          <p:nvPr/>
        </p:nvSpPr>
        <p:spPr>
          <a:xfrm>
            <a:off x="1951349" y="5167239"/>
            <a:ext cx="22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2"/>
                </a:solidFill>
                <a:latin typeface="+mj-lt"/>
              </a:rPr>
              <a:t>Exam Scheduler</a:t>
            </a:r>
            <a:endParaRPr lang="en-IN" b="1" i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5939D8-7610-4FE8-2389-117BC2E91682}"/>
              </a:ext>
            </a:extLst>
          </p:cNvPr>
          <p:cNvSpPr txBox="1"/>
          <p:nvPr/>
        </p:nvSpPr>
        <p:spPr>
          <a:xfrm>
            <a:off x="8100856" y="5167239"/>
            <a:ext cx="22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solidFill>
                  <a:schemeClr val="tx2"/>
                </a:solidFill>
                <a:latin typeface="+mj-lt"/>
              </a:rPr>
              <a:t>Rooms Tracker</a:t>
            </a:r>
            <a:endParaRPr lang="en-IN" b="1" i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22818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C0E356-93FB-C55A-37DE-669ED7640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B2C946-7B37-A7C6-3A1A-105F58E45684}"/>
              </a:ext>
            </a:extLst>
          </p:cNvPr>
          <p:cNvSpPr txBox="1"/>
          <p:nvPr/>
        </p:nvSpPr>
        <p:spPr>
          <a:xfrm>
            <a:off x="699154" y="432194"/>
            <a:ext cx="107936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tx2"/>
                </a:solidFill>
                <a:latin typeface="+mj-lt"/>
              </a:rPr>
              <a:t>Output – Faculty &amp; Personal Time Table</a:t>
            </a:r>
            <a:endParaRPr lang="en-IN" sz="48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8F5392-B934-F455-919E-39D60D8E5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58216" y="1812984"/>
            <a:ext cx="5608784" cy="3154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44FD12-E912-1A40-1E8F-A1C48816E3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4118" y="1812985"/>
            <a:ext cx="5608776" cy="31549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D2CED25-F0E9-EDF3-B4E7-71F15EDB2C95}"/>
              </a:ext>
            </a:extLst>
          </p:cNvPr>
          <p:cNvCxnSpPr/>
          <p:nvPr/>
        </p:nvCxnSpPr>
        <p:spPr>
          <a:xfrm>
            <a:off x="699154" y="1263191"/>
            <a:ext cx="1079369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42BB2F6-F57A-9E98-1560-C3E307F2C451}"/>
              </a:ext>
            </a:extLst>
          </p:cNvPr>
          <p:cNvSpPr txBox="1"/>
          <p:nvPr/>
        </p:nvSpPr>
        <p:spPr>
          <a:xfrm>
            <a:off x="1806803" y="5138959"/>
            <a:ext cx="2215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tx2"/>
                </a:solidFill>
                <a:latin typeface="+mj-lt"/>
              </a:rPr>
              <a:t>Faculty Directory</a:t>
            </a:r>
            <a:endParaRPr lang="en-IN" i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7C68AF-B733-7505-76D1-4784A382EE2C}"/>
              </a:ext>
            </a:extLst>
          </p:cNvPr>
          <p:cNvSpPr txBox="1"/>
          <p:nvPr/>
        </p:nvSpPr>
        <p:spPr>
          <a:xfrm>
            <a:off x="7620089" y="5138959"/>
            <a:ext cx="3758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/>
                </a:solidFill>
                <a:latin typeface="+mj-lt"/>
              </a:rPr>
              <a:t>Personalized Student Time Table</a:t>
            </a:r>
            <a:endParaRPr lang="en-IN" i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73615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686D2D-8145-AAF6-9961-ACB922511C6C}"/>
              </a:ext>
            </a:extLst>
          </p:cNvPr>
          <p:cNvSpPr/>
          <p:nvPr/>
        </p:nvSpPr>
        <p:spPr>
          <a:xfrm>
            <a:off x="810705" y="1960775"/>
            <a:ext cx="10708850" cy="3233394"/>
          </a:xfrm>
          <a:prstGeom prst="roundRect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B838E-659D-7D0A-05E8-797BB658D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Conclusion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BEC36-B035-5F4C-F478-842E67A4D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930" y="2381664"/>
            <a:ext cx="10058400" cy="2245500"/>
          </a:xfrm>
        </p:spPr>
        <p:txBody>
          <a:bodyPr/>
          <a:lstStyle/>
          <a:p>
            <a:r>
              <a:rPr lang="en-US" dirty="0" err="1">
                <a:latin typeface="+mj-lt"/>
              </a:rPr>
              <a:t>AeroChronos</a:t>
            </a:r>
            <a:r>
              <a:rPr lang="en-US" dirty="0">
                <a:latin typeface="+mj-lt"/>
              </a:rPr>
              <a:t> successfully demonstrates the practical application of </a:t>
            </a:r>
            <a:r>
              <a:rPr lang="en-US" b="1" dirty="0">
                <a:latin typeface="+mj-lt"/>
              </a:rPr>
              <a:t>Constraint Satisfaction Problems</a:t>
            </a:r>
            <a:r>
              <a:rPr lang="en-US" dirty="0">
                <a:latin typeface="+mj-lt"/>
              </a:rPr>
              <a:t> and </a:t>
            </a:r>
            <a:r>
              <a:rPr lang="en-US" b="1" dirty="0">
                <a:latin typeface="+mj-lt"/>
              </a:rPr>
              <a:t>Simulated Annealing</a:t>
            </a:r>
            <a:r>
              <a:rPr lang="en-US" dirty="0">
                <a:latin typeface="+mj-lt"/>
              </a:rPr>
              <a:t> for real-world college timetable generation.</a:t>
            </a:r>
          </a:p>
          <a:p>
            <a:r>
              <a:rPr lang="en-US" dirty="0">
                <a:latin typeface="+mj-lt"/>
              </a:rPr>
              <a:t>The system satisfies all hard constraints, optimizes soft constraints, provides algorithmic transparency, and offers a modern user-friendly interface.</a:t>
            </a:r>
          </a:p>
          <a:p>
            <a:r>
              <a:rPr lang="en-US" dirty="0">
                <a:latin typeface="+mj-lt"/>
              </a:rPr>
              <a:t>It is well-aligned with FOAI course outcomes (Problem-Solving Agents, Local Search, and CSP) and can be extended for multi-department use and integration with existing college ERP systems.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7973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69A2A-AFA3-50FE-1064-571A939E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Reference</a:t>
            </a:r>
            <a:endParaRPr lang="en-IN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89A3-9547-4959-72A6-D50B06D99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i="1" dirty="0"/>
              <a:t>[1] Minton, S., Johnston, M. D., Philips, A. B., &amp; Laird, P. (1992).</a:t>
            </a:r>
            <a:r>
              <a:rPr lang="en-US" i="1" dirty="0"/>
              <a:t> Minimizing conflicts: a heuristic repair method for constraint satisfaction and scheduling problems. Artificial Intelligence, 58(1-3), 161–205.</a:t>
            </a:r>
          </a:p>
          <a:p>
            <a:r>
              <a:rPr lang="en-US" b="1" i="1" dirty="0"/>
              <a:t>[2] Müller, T. (2001).</a:t>
            </a:r>
            <a:r>
              <a:rPr lang="en-US" i="1" dirty="0"/>
              <a:t> Interactive Timetabling (Master's thesis). Charles University, Prague.</a:t>
            </a:r>
          </a:p>
          <a:p>
            <a:r>
              <a:rPr lang="en-US" b="1" i="1" dirty="0"/>
              <a:t>[3] Müller, T. (2002).</a:t>
            </a:r>
            <a:r>
              <a:rPr lang="en-US" i="1" dirty="0"/>
              <a:t> Interactive Heuristic Search Algorithm. Proceedings of the CP'02 Conference - Doctoral </a:t>
            </a:r>
            <a:r>
              <a:rPr lang="en-US" i="1" dirty="0" err="1"/>
              <a:t>Programme</a:t>
            </a:r>
            <a:r>
              <a:rPr lang="en-US" i="1" dirty="0"/>
              <a:t>, LNCS 2470, 765.</a:t>
            </a:r>
          </a:p>
          <a:p>
            <a:r>
              <a:rPr lang="en-US" b="1" i="1" dirty="0"/>
              <a:t>[4] </a:t>
            </a:r>
            <a:r>
              <a:rPr lang="en-US" b="1" i="1" dirty="0" err="1"/>
              <a:t>Rudová</a:t>
            </a:r>
            <a:r>
              <a:rPr lang="en-US" b="1" i="1" dirty="0"/>
              <a:t>, H., &amp; Murray, K. (2003).</a:t>
            </a:r>
            <a:r>
              <a:rPr lang="en-US" i="1" dirty="0"/>
              <a:t> University course timetabling with soft constraints. Practice And Theory of Automated Timetabling, LNCS 2740, 310–328.</a:t>
            </a:r>
          </a:p>
          <a:p>
            <a:r>
              <a:rPr lang="en-US" b="1" i="1" dirty="0"/>
              <a:t>[5] Müller, T., &amp; </a:t>
            </a:r>
            <a:r>
              <a:rPr lang="en-US" b="1" i="1" dirty="0" err="1"/>
              <a:t>Rudová</a:t>
            </a:r>
            <a:r>
              <a:rPr lang="en-US" b="1" i="1" dirty="0"/>
              <a:t>, H. (2004).</a:t>
            </a:r>
            <a:r>
              <a:rPr lang="en-US" i="1" dirty="0"/>
              <a:t> Minimal Perturbation Problem in Course Timetabling. PATAT 2004 - Proceedings of the 5th International Conference on the Practice And Theory of Automated Timetabling, 283–303.</a:t>
            </a:r>
          </a:p>
          <a:p>
            <a:r>
              <a:rPr lang="en-US" b="1" i="1" dirty="0"/>
              <a:t>[6] Piechowiak, S., Ma, J., &amp; </a:t>
            </a:r>
            <a:r>
              <a:rPr lang="en-US" b="1" i="1" dirty="0" err="1"/>
              <a:t>Mandiau</a:t>
            </a:r>
            <a:r>
              <a:rPr lang="en-US" b="1" i="1" dirty="0"/>
              <a:t>, R. (2004).</a:t>
            </a:r>
            <a:r>
              <a:rPr lang="en-US" i="1" dirty="0"/>
              <a:t> EDT-2004: An open interactive timetabling tool. PATAT 2004 - Proceedings of the 5th International Conference on the Practice and Theory of Automated Timetabling, 305–321.</a:t>
            </a:r>
          </a:p>
          <a:p>
            <a:r>
              <a:rPr lang="en-US" b="1" i="1" dirty="0"/>
              <a:t>[7] Müller, T., </a:t>
            </a:r>
            <a:r>
              <a:rPr lang="en-US" b="1" i="1" dirty="0" err="1"/>
              <a:t>Rudová</a:t>
            </a:r>
            <a:r>
              <a:rPr lang="en-US" b="1" i="1" dirty="0"/>
              <a:t>, H., &amp; Barták, R. (2005).</a:t>
            </a:r>
            <a:r>
              <a:rPr lang="en-US" i="1" dirty="0"/>
              <a:t> Minimal Perturbation Problem in Course Timetabling. Practice And Theory of Automated Timetabling: Selected Revised Papers, 126–146.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67525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603</TotalTime>
  <Words>971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Retrospect</vt:lpstr>
      <vt:lpstr>FOUNDATIONS OF ARTIFICIAL INTELLIGENCE</vt:lpstr>
      <vt:lpstr>Abstract</vt:lpstr>
      <vt:lpstr>Literature Survey</vt:lpstr>
      <vt:lpstr>Architecture Diagram</vt:lpstr>
      <vt:lpstr>Modules</vt:lpstr>
      <vt:lpstr>Key Modules Explained</vt:lpstr>
      <vt:lpstr>PowerPoint Presentation</vt:lpstr>
      <vt:lpstr>PowerPoint Presentation</vt:lpstr>
      <vt:lpstr>PowerPoint Presentation</vt:lpstr>
      <vt:lpstr>Conclusion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Santhosh G</dc:creator>
  <cp:lastModifiedBy>Santhosh G</cp:lastModifiedBy>
  <cp:revision>10</cp:revision>
  <dcterms:created xsi:type="dcterms:W3CDTF">2026-09-21T16:38:01Z</dcterms:created>
  <dcterms:modified xsi:type="dcterms:W3CDTF">2026-10-04T14:43:17Z</dcterms:modified>
</cp:coreProperties>
</file>